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62" r:id="rId2"/>
    <p:sldId id="257" r:id="rId3"/>
    <p:sldId id="903" r:id="rId4"/>
    <p:sldId id="902" r:id="rId5"/>
    <p:sldId id="258" r:id="rId6"/>
    <p:sldId id="259" r:id="rId7"/>
    <p:sldId id="906" r:id="rId8"/>
    <p:sldId id="907" r:id="rId9"/>
    <p:sldId id="908" r:id="rId10"/>
    <p:sldId id="26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2" d="100"/>
          <a:sy n="82" d="100"/>
        </p:scale>
        <p:origin x="72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10/29/2026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4</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10/29/2026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10/29/2026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10/29/2026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10/29/2026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10/29/2026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10/29/2026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10/29/2026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10/29/2026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10/29/2026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10/29/2026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10/29/2026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10/29/2026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Date&amp; Time</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2139493981"/>
              </p:ext>
            </p:extLst>
          </p:nvPr>
        </p:nvGraphicFramePr>
        <p:xfrm>
          <a:off x="8193271" y="4898509"/>
          <a:ext cx="3702050" cy="106680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P Hansini – 2420030239</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G Sreevarsha – 2420030241</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Mani Charan Chava - 2420030545</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2920506269"/>
              </p:ext>
            </p:extLst>
          </p:nvPr>
        </p:nvGraphicFramePr>
        <p:xfrm>
          <a:off x="-795813" y="4774125"/>
          <a:ext cx="5902325" cy="1332118"/>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Dr.Venkateswari Ketineni</a:t>
                      </a: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523220"/>
          </a:xfrm>
          <a:prstGeom prst="rect">
            <a:avLst/>
          </a:prstGeom>
          <a:noFill/>
        </p:spPr>
        <p:txBody>
          <a:bodyPr wrap="square">
            <a:spAutoFit/>
          </a:bodyPr>
          <a:lstStyle/>
          <a:p>
            <a:pPr lvl="0" algn="ctr">
              <a:defRPr/>
            </a:pPr>
            <a:r>
              <a:rPr lang="en-IN" sz="2800" b="1" dirty="0">
                <a:solidFill>
                  <a:schemeClr val="bg1"/>
                </a:solidFill>
                <a:latin typeface="Times New Roman" panose="02020603050405020304" pitchFamily="18" charset="0"/>
                <a:cs typeface="Times New Roman" panose="02020603050405020304" pitchFamily="18" charset="0"/>
              </a:rPr>
              <a:t>Project Title</a:t>
            </a:r>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0AEA15BB-819D-AAF4-A0EA-4E2A15818D85}"/>
              </a:ext>
            </a:extLst>
          </p:cNvPr>
          <p:cNvSpPr txBox="1"/>
          <p:nvPr/>
        </p:nvSpPr>
        <p:spPr>
          <a:xfrm>
            <a:off x="5129784" y="1984248"/>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8EA18921-4273-9216-5724-9DBCA08B6215}"/>
              </a:ext>
            </a:extLst>
          </p:cNvPr>
          <p:cNvSpPr txBox="1"/>
          <p:nvPr/>
        </p:nvSpPr>
        <p:spPr>
          <a:xfrm>
            <a:off x="1450848" y="1624275"/>
            <a:ext cx="9290304" cy="2923877"/>
          </a:xfrm>
          <a:prstGeom prst="rect">
            <a:avLst/>
          </a:prstGeom>
          <a:noFill/>
        </p:spPr>
        <p:txBody>
          <a:bodyPr wrap="square">
            <a:spAutoFit/>
          </a:bodyPr>
          <a:lstStyle/>
          <a:p>
            <a:pPr algn="just"/>
            <a:r>
              <a:rPr lang="en-US" sz="2300" dirty="0">
                <a:latin typeface="Javanese Text" panose="02000000000000000000" pitchFamily="2" charset="0"/>
              </a:rPr>
              <a:t>The AI-Powered Mutual Fund Portfolio Analysis and Investment Tracking System is designed to help users monitor and understand their mutual fund investments. The system tracks the user's investments, analyzes portfolio performance, evaluates the level of risk and diversification, and provides useful insights using historical mutual fund data and machine learning techniques. It helps users easily identify whether their portfolio is performing well and understand the risk associated with their investments.</a:t>
            </a:r>
          </a:p>
        </p:txBody>
      </p:sp>
    </p:spTree>
    <p:extLst>
      <p:ext uri="{BB962C8B-B14F-4D97-AF65-F5344CB8AC3E}">
        <p14:creationId xmlns:p14="http://schemas.microsoft.com/office/powerpoint/2010/main" val="1843937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A62493A4-A5FE-4451-C3DA-E6B3249A35C8}"/>
              </a:ext>
            </a:extLst>
          </p:cNvPr>
          <p:cNvSpPr txBox="1"/>
          <p:nvPr/>
        </p:nvSpPr>
        <p:spPr>
          <a:xfrm>
            <a:off x="448268" y="1709928"/>
            <a:ext cx="10954300" cy="4708981"/>
          </a:xfrm>
          <a:prstGeom prst="rect">
            <a:avLst/>
          </a:prstGeom>
          <a:noFill/>
        </p:spPr>
        <p:txBody>
          <a:bodyPr wrap="square" rtlCol="0">
            <a:spAutoFit/>
          </a:bodyPr>
          <a:lstStyle/>
          <a:p>
            <a:pPr marL="342900" lvl="0" indent="-342900">
              <a:buFont typeface="+mj-lt"/>
              <a:buAutoNum type="arabicPeriod"/>
            </a:pPr>
            <a:r>
              <a:rPr lang="en-US" sz="2000" dirty="0">
                <a:latin typeface="Javanese Text" panose="02000000000000000000" pitchFamily="2" charset="0"/>
                <a:ea typeface="Calibri" panose="020F0502020204030204" pitchFamily="34" charset="0"/>
                <a:cs typeface="Calibri" panose="020F0502020204030204" pitchFamily="34" charset="0"/>
              </a:rPr>
              <a:t> To collect and preprocess mutual fund, NAV, market, user holding, and SIP transaction data for accurate analysis.</a:t>
            </a:r>
          </a:p>
          <a:p>
            <a:pPr marL="342900" lvl="0" indent="-342900">
              <a:buFont typeface="+mj-lt"/>
              <a:buAutoNum type="arabicPeriod"/>
            </a:pPr>
            <a:endParaRPr lang="en-US" sz="2000" dirty="0">
              <a:latin typeface="Javanese Text" panose="02000000000000000000" pitchFamily="2" charset="0"/>
              <a:ea typeface="Calibri" panose="020F0502020204030204" pitchFamily="34" charset="0"/>
              <a:cs typeface="Calibri" panose="020F0502020204030204" pitchFamily="34" charset="0"/>
            </a:endParaRPr>
          </a:p>
          <a:p>
            <a:pPr marL="342900" lvl="0" indent="-342900">
              <a:buFont typeface="+mj-lt"/>
              <a:buAutoNum type="arabicPeriod"/>
            </a:pPr>
            <a:r>
              <a:rPr lang="en-US" sz="2000" dirty="0">
                <a:latin typeface="Javanese Text" panose="02000000000000000000" pitchFamily="2" charset="0"/>
                <a:ea typeface="Calibri" panose="020F0502020204030204" pitchFamily="34" charset="0"/>
                <a:cs typeface="Calibri" panose="020F0502020204030204" pitchFamily="34" charset="0"/>
              </a:rPr>
              <a:t> To extract important financial features such as returns, volatility, risk, Sharpe ratio, expense ratio, and asset allocation.</a:t>
            </a:r>
          </a:p>
          <a:p>
            <a:pPr marL="342900" lvl="0" indent="-342900">
              <a:buFont typeface="+mj-lt"/>
              <a:buAutoNum type="arabicPeriod"/>
            </a:pPr>
            <a:endParaRPr lang="en-US" sz="2000" dirty="0">
              <a:latin typeface="Javanese Text" panose="02000000000000000000" pitchFamily="2" charset="0"/>
              <a:ea typeface="Calibri" panose="020F0502020204030204" pitchFamily="34" charset="0"/>
              <a:cs typeface="Calibri" panose="020F0502020204030204" pitchFamily="34" charset="0"/>
            </a:endParaRPr>
          </a:p>
          <a:p>
            <a:pPr marL="342900" lvl="0" indent="-342900">
              <a:buFont typeface="+mj-lt"/>
              <a:buAutoNum type="arabicPeriod"/>
            </a:pPr>
            <a:r>
              <a:rPr lang="en-US" sz="2000" dirty="0">
                <a:latin typeface="Javanese Text" panose="02000000000000000000" pitchFamily="2" charset="0"/>
                <a:ea typeface="Calibri" panose="020F0502020204030204" pitchFamily="34" charset="0"/>
                <a:cs typeface="Calibri" panose="020F0502020204030204" pitchFamily="34" charset="0"/>
              </a:rPr>
              <a:t>To track user investments including SIPs, buy/sell transactions, units held, current NAV, portfolio value, and profit/loss.</a:t>
            </a:r>
          </a:p>
          <a:p>
            <a:pPr marL="342900" lvl="0" indent="-342900">
              <a:buFont typeface="+mj-lt"/>
              <a:buAutoNum type="arabicPeriod"/>
            </a:pPr>
            <a:endParaRPr lang="en-US" sz="2000" dirty="0">
              <a:latin typeface="Javanese Text" panose="02000000000000000000" pitchFamily="2" charset="0"/>
              <a:ea typeface="Calibri" panose="020F0502020204030204" pitchFamily="34" charset="0"/>
              <a:cs typeface="Calibri" panose="020F0502020204030204" pitchFamily="34" charset="0"/>
            </a:endParaRPr>
          </a:p>
          <a:p>
            <a:pPr marL="342900" lvl="0" indent="-342900">
              <a:buFont typeface="+mj-lt"/>
              <a:buAutoNum type="arabicPeriod"/>
            </a:pPr>
            <a:r>
              <a:rPr lang="en-US" sz="2000" dirty="0">
                <a:latin typeface="Javanese Text" panose="02000000000000000000" pitchFamily="2" charset="0"/>
                <a:ea typeface="Calibri" panose="020F0502020204030204" pitchFamily="34" charset="0"/>
                <a:cs typeface="Calibri" panose="020F0502020204030204" pitchFamily="34" charset="0"/>
              </a:rPr>
              <a:t>To provide an interactive dashboard for viewing portfolio overview, returns, risk analysis, fund comparison, and historical trends.</a:t>
            </a:r>
          </a:p>
          <a:p>
            <a:pPr marL="342900" lvl="0" indent="-342900">
              <a:buFont typeface="+mj-lt"/>
              <a:buAutoNum type="arabicPeriod"/>
            </a:pPr>
            <a:endParaRPr lang="en-US" sz="2000" dirty="0">
              <a:latin typeface="Javanese Text" panose="02000000000000000000" pitchFamily="2" charset="0"/>
              <a:ea typeface="Calibri" panose="020F0502020204030204" pitchFamily="34" charset="0"/>
              <a:cs typeface="Calibri" panose="020F0502020204030204" pitchFamily="34" charset="0"/>
            </a:endParaRPr>
          </a:p>
          <a:p>
            <a:pPr marL="342900" lvl="0" indent="-342900">
              <a:buFont typeface="+mj-lt"/>
              <a:buAutoNum type="arabicPeriod"/>
            </a:pPr>
            <a:r>
              <a:rPr lang="en-US" sz="2000" dirty="0">
                <a:latin typeface="Javanese Text" panose="02000000000000000000" pitchFamily="2" charset="0"/>
                <a:ea typeface="Calibri" panose="020F0502020204030204" pitchFamily="34" charset="0"/>
                <a:cs typeface="Calibri" panose="020F0502020204030204" pitchFamily="34" charset="0"/>
              </a:rPr>
              <a:t>To analyze mutual fund performance and provide fund ranking and comparison based on historical data.</a:t>
            </a:r>
          </a:p>
          <a:p>
            <a:pPr marL="342900" indent="-342900">
              <a:buFont typeface="+mj-lt"/>
              <a:buAutoNum type="arabicPeriod"/>
            </a:pPr>
            <a:endParaRPr lang="en-US" sz="2000" dirty="0">
              <a:latin typeface="Javanese Text" panose="02000000000000000000" pitchFamily="2"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177829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3620053304"/>
              </p:ext>
            </p:extLst>
          </p:nvPr>
        </p:nvGraphicFramePr>
        <p:xfrm>
          <a:off x="274646" y="689466"/>
          <a:ext cx="11642705" cy="4895437"/>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US" sz="1400" dirty="0"/>
                        <a:t>S. R. Das &amp; R. K. Jain</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dirty="0"/>
                        <a:t>Mutual Fund Performance: A Synthesis of Taxonomic and Methodological Issues</a:t>
                      </a:r>
                      <a:endParaRPr lang="en-IN" sz="1400" b="1"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Classified mutual funds and analyzed returns, fund flows, and performance using different evaluation methods.</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Fund category, returns, investor flows, and risk-adjusted performance are important for portfolio evaluation.</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US" sz="1400" dirty="0"/>
                        <a:t>The study covers broad methodological issues; a practical software-based portfolio system can integrate these analyses.</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US" sz="1400" dirty="0"/>
                        <a:t>Nima Vafai &amp; David Rakowski</a:t>
                      </a:r>
                      <a:endParaRPr lang="en-IN" sz="1400" b="0"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dirty="0"/>
                        <a:t>The Sources of Portfolio Volatility and Mutual Fund Performance</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Analyzed portfolio volatility using security-level variances and covariances.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Portfolio volatility depends significantly on the relationships between securities within the portfolio.</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US" sz="1400" dirty="0"/>
                        <a:t>Analysis can be extended to different markets and practical investor portfolio applications.</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US" sz="1400" dirty="0"/>
                        <a:t>S. R. S. Prasad et al.</a:t>
                      </a:r>
                      <a:endParaRPr lang="en-IN" sz="14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dirty="0"/>
                        <a:t>A Critical Analysis of Selected Mutual Funds in India</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Analyzed daily NAV data using statistical performance measures.</a:t>
                      </a: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Mutual funds can be evaluated by comparing their historical NAV and performance measures.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US" sz="1400" dirty="0"/>
                        <a:t>Study focused on selected funds; future work can include more fund categories and larger datasets. </a:t>
                      </a: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4</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E561E609-8078-302F-D7A1-BB5E1E59D0FF}"/>
              </a:ext>
            </a:extLst>
          </p:cNvPr>
          <p:cNvSpPr txBox="1"/>
          <p:nvPr/>
        </p:nvSpPr>
        <p:spPr>
          <a:xfrm>
            <a:off x="1216152" y="1874520"/>
            <a:ext cx="6992620" cy="2462213"/>
          </a:xfrm>
          <a:prstGeom prst="rect">
            <a:avLst/>
          </a:prstGeom>
          <a:noFill/>
        </p:spPr>
        <p:txBody>
          <a:bodyPr wrap="none" rtlCol="0">
            <a:spAutoFit/>
          </a:bodyPr>
          <a:lstStyle/>
          <a:p>
            <a:pPr marL="285750" lvl="0" indent="-285750">
              <a:buFont typeface="Arial" panose="020B0604020202020204" pitchFamily="34" charset="0"/>
              <a:buChar char="•"/>
            </a:pPr>
            <a:r>
              <a:rPr lang="en-US" sz="2200" dirty="0">
                <a:latin typeface="Javanese Text" panose="02000000000000000000" pitchFamily="2" charset="0"/>
              </a:rPr>
              <a:t>Limited integrated portfolio analysis </a:t>
            </a:r>
          </a:p>
          <a:p>
            <a:pPr marL="285750" lvl="0" indent="-285750">
              <a:buFont typeface="Arial" panose="020B0604020202020204" pitchFamily="34" charset="0"/>
              <a:buChar char="•"/>
            </a:pPr>
            <a:r>
              <a:rPr lang="en-US" sz="2200" dirty="0">
                <a:latin typeface="Javanese Text" panose="02000000000000000000" pitchFamily="2" charset="0"/>
              </a:rPr>
              <a:t>Difficulty identifying underperforming funds </a:t>
            </a:r>
          </a:p>
          <a:p>
            <a:pPr marL="285750" lvl="0" indent="-285750">
              <a:buFont typeface="Arial" panose="020B0604020202020204" pitchFamily="34" charset="0"/>
              <a:buChar char="•"/>
            </a:pPr>
            <a:r>
              <a:rPr lang="en-US" sz="2200" dirty="0">
                <a:latin typeface="Javanese Text" panose="02000000000000000000" pitchFamily="2" charset="0"/>
              </a:rPr>
              <a:t>Limited risk and diversification analysis </a:t>
            </a:r>
          </a:p>
          <a:p>
            <a:pPr marL="285750" lvl="0" indent="-285750">
              <a:buFont typeface="Arial" panose="020B0604020202020204" pitchFamily="34" charset="0"/>
              <a:buChar char="•"/>
            </a:pPr>
            <a:r>
              <a:rPr lang="en-US" sz="2200" dirty="0">
                <a:latin typeface="Javanese Text" panose="02000000000000000000" pitchFamily="2" charset="0"/>
              </a:rPr>
              <a:t>Lack of benchmark-based performance comparison </a:t>
            </a:r>
          </a:p>
          <a:p>
            <a:pPr marL="285750" lvl="0" indent="-285750">
              <a:buFont typeface="Arial" panose="020B0604020202020204" pitchFamily="34" charset="0"/>
              <a:buChar char="•"/>
            </a:pPr>
            <a:r>
              <a:rPr lang="en-US" sz="2200" dirty="0">
                <a:latin typeface="Javanese Text" panose="02000000000000000000" pitchFamily="2" charset="0"/>
              </a:rPr>
              <a:t>Limited modular/scalable architecture </a:t>
            </a:r>
          </a:p>
          <a:p>
            <a:pPr marL="285750" lvl="0" indent="-285750">
              <a:buFont typeface="Arial" panose="020B0604020202020204" pitchFamily="34" charset="0"/>
              <a:buChar char="•"/>
            </a:pPr>
            <a:r>
              <a:rPr lang="en-US" sz="2200" dirty="0">
                <a:latin typeface="Javanese Text" panose="02000000000000000000" pitchFamily="2" charset="0"/>
              </a:rPr>
              <a:t>Need for centralized investment tracking and analysis</a:t>
            </a:r>
          </a:p>
          <a:p>
            <a:endParaRPr lang="en-US" sz="2200" dirty="0">
              <a:latin typeface="Javanese Text" panose="02000000000000000000" pitchFamily="2" charset="0"/>
            </a:endParaRPr>
          </a:p>
        </p:txBody>
      </p:sp>
    </p:spTree>
    <p:extLst>
      <p:ext uri="{BB962C8B-B14F-4D97-AF65-F5344CB8AC3E}">
        <p14:creationId xmlns:p14="http://schemas.microsoft.com/office/powerpoint/2010/main" val="2065876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E88555EF-DB34-567A-483B-19B00CD920A1}"/>
              </a:ext>
            </a:extLst>
          </p:cNvPr>
          <p:cNvSpPr txBox="1"/>
          <p:nvPr/>
        </p:nvSpPr>
        <p:spPr>
          <a:xfrm>
            <a:off x="1014984" y="2221992"/>
            <a:ext cx="9784080" cy="1754326"/>
          </a:xfrm>
          <a:prstGeom prst="rect">
            <a:avLst/>
          </a:prstGeom>
          <a:noFill/>
        </p:spPr>
        <p:txBody>
          <a:bodyPr wrap="square" rtlCol="0">
            <a:spAutoFit/>
          </a:bodyPr>
          <a:lstStyle/>
          <a:p>
            <a:pPr marL="285750" indent="-285750">
              <a:buFont typeface="Arial" panose="020B0604020202020204" pitchFamily="34" charset="0"/>
              <a:buChar char="•"/>
            </a:pPr>
            <a:r>
              <a:rPr lang="en-US" b="1" dirty="0"/>
              <a:t>Microservices-based architecture</a:t>
            </a:r>
            <a:r>
              <a:rPr lang="en-US" dirty="0"/>
              <a:t> — separates the system into independent services such as User, Fund, Portfolio, Analysis, and Notification services.</a:t>
            </a:r>
          </a:p>
          <a:p>
            <a:pPr marL="285750" indent="-285750">
              <a:buFont typeface="Arial" panose="020B0604020202020204" pitchFamily="34" charset="0"/>
              <a:buChar char="•"/>
            </a:pPr>
            <a:r>
              <a:rPr lang="en-US" b="1" dirty="0"/>
              <a:t>Real-time portfolio insights</a:t>
            </a:r>
            <a:r>
              <a:rPr lang="en-US" dirty="0"/>
              <a:t> — provides updated portfolio value, profit/loss, NAV, and performance information.</a:t>
            </a:r>
          </a:p>
          <a:p>
            <a:pPr marL="285750" indent="-285750">
              <a:buFont typeface="Arial" panose="020B0604020202020204" pitchFamily="34" charset="0"/>
              <a:buChar char="•"/>
            </a:pPr>
            <a:r>
              <a:rPr lang="en-US" b="1" dirty="0"/>
              <a:t>API-based service communication</a:t>
            </a:r>
            <a:r>
              <a:rPr lang="en-US" dirty="0"/>
              <a:t> — services communicate through REST APIs, demonstrating SOA principles.</a:t>
            </a:r>
          </a:p>
        </p:txBody>
      </p:sp>
    </p:spTree>
    <p:extLst>
      <p:ext uri="{BB962C8B-B14F-4D97-AF65-F5344CB8AC3E}">
        <p14:creationId xmlns:p14="http://schemas.microsoft.com/office/powerpoint/2010/main" val="35241353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2637" y="452796"/>
            <a:ext cx="11797371" cy="6405204"/>
          </a:xfrm>
          <a:prstGeom prst="rect">
            <a:avLst/>
          </a:prstGeom>
        </p:spPr>
      </p:pic>
      <p:sp>
        <p:nvSpPr>
          <p:cNvPr id="5" name="TextBox 4"/>
          <p:cNvSpPr txBox="1"/>
          <p:nvPr/>
        </p:nvSpPr>
        <p:spPr>
          <a:xfrm>
            <a:off x="559836" y="375012"/>
            <a:ext cx="4875053" cy="584775"/>
          </a:xfrm>
          <a:prstGeom prst="rect">
            <a:avLst/>
          </a:prstGeom>
          <a:noFill/>
        </p:spPr>
        <p:txBody>
          <a:bodyPr wrap="none" rtlCol="0">
            <a:spAutoFit/>
          </a:bodyPr>
          <a:lstStyle/>
          <a:p>
            <a:r>
              <a:rPr lang="en-US" sz="3200" b="1" dirty="0" smtClean="0"/>
              <a:t>System Architecture</a:t>
            </a:r>
            <a:endParaRPr lang="en-US" sz="3200" b="1" dirty="0"/>
          </a:p>
        </p:txBody>
      </p:sp>
    </p:spTree>
    <p:extLst>
      <p:ext uri="{BB962C8B-B14F-4D97-AF65-F5344CB8AC3E}">
        <p14:creationId xmlns:p14="http://schemas.microsoft.com/office/powerpoint/2010/main" val="925008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70073" y="668759"/>
            <a:ext cx="6561389" cy="5669771"/>
          </a:xfrm>
          <a:prstGeom prst="rect">
            <a:avLst/>
          </a:prstGeom>
        </p:spPr>
      </p:pic>
      <p:sp>
        <p:nvSpPr>
          <p:cNvPr id="3" name="TextBox 2"/>
          <p:cNvSpPr txBox="1"/>
          <p:nvPr/>
        </p:nvSpPr>
        <p:spPr>
          <a:xfrm>
            <a:off x="541175" y="793102"/>
            <a:ext cx="4134465" cy="584775"/>
          </a:xfrm>
          <a:prstGeom prst="rect">
            <a:avLst/>
          </a:prstGeom>
          <a:noFill/>
        </p:spPr>
        <p:txBody>
          <a:bodyPr wrap="none" rtlCol="0">
            <a:spAutoFit/>
          </a:bodyPr>
          <a:lstStyle/>
          <a:p>
            <a:r>
              <a:rPr lang="en-US" sz="3200" b="1" dirty="0" smtClean="0"/>
              <a:t>SOA Architecture</a:t>
            </a:r>
            <a:endParaRPr lang="en-US" sz="3200" b="1" dirty="0"/>
          </a:p>
        </p:txBody>
      </p:sp>
    </p:spTree>
    <p:extLst>
      <p:ext uri="{BB962C8B-B14F-4D97-AF65-F5344CB8AC3E}">
        <p14:creationId xmlns:p14="http://schemas.microsoft.com/office/powerpoint/2010/main" val="148083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31091" y="337264"/>
            <a:ext cx="9840492" cy="6340197"/>
          </a:xfrm>
          <a:prstGeom prst="rect">
            <a:avLst/>
          </a:prstGeom>
          <a:noFill/>
        </p:spPr>
        <p:txBody>
          <a:bodyPr wrap="square" rtlCol="0">
            <a:spAutoFit/>
          </a:bodyPr>
          <a:lstStyle/>
          <a:p>
            <a:r>
              <a:rPr lang="en-US" sz="2800" b="1" dirty="0" smtClean="0"/>
              <a:t>Methodology</a:t>
            </a:r>
          </a:p>
          <a:p>
            <a:endParaRPr lang="en-US" b="1" dirty="0"/>
          </a:p>
          <a:p>
            <a:pPr marL="285750" indent="-285750">
              <a:buFont typeface="Arial" panose="020B0604020202020204" pitchFamily="34" charset="0"/>
              <a:buChar char="•"/>
            </a:pPr>
            <a:r>
              <a:rPr lang="en-US" b="1" dirty="0">
                <a:latin typeface="Aptos (Body)"/>
              </a:rPr>
              <a:t>Requirement Analysis</a:t>
            </a:r>
            <a:r>
              <a:rPr lang="en-US" dirty="0">
                <a:latin typeface="Aptos (Body)"/>
              </a:rPr>
              <a:t> – Identify requirements for portfolio tracking, mutual fund management, SIPs, transactions, analytics, and AI assistance. </a:t>
            </a:r>
            <a:endParaRPr lang="en-US" dirty="0" smtClean="0">
              <a:latin typeface="Aptos (Body)"/>
            </a:endParaRPr>
          </a:p>
          <a:p>
            <a:pPr marL="285750" indent="-285750">
              <a:buFont typeface="Arial" panose="020B0604020202020204" pitchFamily="34" charset="0"/>
              <a:buChar char="•"/>
            </a:pPr>
            <a:endParaRPr lang="en-US" dirty="0">
              <a:latin typeface="Aptos (Body)"/>
            </a:endParaRPr>
          </a:p>
          <a:p>
            <a:pPr marL="285750" indent="-285750">
              <a:buFont typeface="Arial" panose="020B0604020202020204" pitchFamily="34" charset="0"/>
              <a:buChar char="•"/>
            </a:pPr>
            <a:r>
              <a:rPr lang="en-US" b="1" dirty="0">
                <a:latin typeface="Aptos (Body)"/>
              </a:rPr>
              <a:t>SOA Architecture Design</a:t>
            </a:r>
            <a:r>
              <a:rPr lang="en-US" dirty="0">
                <a:latin typeface="Aptos (Body)"/>
              </a:rPr>
              <a:t> – Divide the system into independent services such as User, Mutual Fund, Portfolio, Transaction, Analysis, AI, and Notification services. </a:t>
            </a:r>
            <a:endParaRPr lang="en-US" dirty="0" smtClean="0">
              <a:latin typeface="Aptos (Body)"/>
            </a:endParaRPr>
          </a:p>
          <a:p>
            <a:pPr marL="285750" indent="-285750">
              <a:buFont typeface="Arial" panose="020B0604020202020204" pitchFamily="34" charset="0"/>
              <a:buChar char="•"/>
            </a:pPr>
            <a:endParaRPr lang="en-US" dirty="0">
              <a:latin typeface="Aptos (Body)"/>
            </a:endParaRPr>
          </a:p>
          <a:p>
            <a:pPr marL="285750" indent="-285750">
              <a:buFont typeface="Arial" panose="020B0604020202020204" pitchFamily="34" charset="0"/>
              <a:buChar char="•"/>
            </a:pPr>
            <a:r>
              <a:rPr lang="en-US" b="1" dirty="0">
                <a:latin typeface="Aptos (Body)"/>
              </a:rPr>
              <a:t>Database &amp; Backend Development</a:t>
            </a:r>
            <a:r>
              <a:rPr lang="en-US" dirty="0">
                <a:latin typeface="Aptos (Body)"/>
              </a:rPr>
              <a:t> – Design the database entities and develop REST APIs using </a:t>
            </a:r>
            <a:r>
              <a:rPr lang="en-US" b="1" dirty="0">
                <a:latin typeface="Aptos (Body)"/>
              </a:rPr>
              <a:t>Java, Spring Boot, JPA, and H2</a:t>
            </a:r>
            <a:r>
              <a:rPr lang="en-US" dirty="0">
                <a:latin typeface="Aptos (Body)"/>
              </a:rPr>
              <a:t>. </a:t>
            </a:r>
            <a:endParaRPr lang="en-US" dirty="0" smtClean="0">
              <a:latin typeface="Aptos (Body)"/>
            </a:endParaRPr>
          </a:p>
          <a:p>
            <a:pPr marL="285750" indent="-285750">
              <a:buFont typeface="Arial" panose="020B0604020202020204" pitchFamily="34" charset="0"/>
              <a:buChar char="•"/>
            </a:pPr>
            <a:endParaRPr lang="en-US" dirty="0">
              <a:latin typeface="Aptos (Body)"/>
            </a:endParaRPr>
          </a:p>
          <a:p>
            <a:pPr marL="285750" indent="-285750">
              <a:buFont typeface="Arial" panose="020B0604020202020204" pitchFamily="34" charset="0"/>
              <a:buChar char="•"/>
            </a:pPr>
            <a:r>
              <a:rPr lang="en-US" b="1" dirty="0">
                <a:latin typeface="Aptos (Body)"/>
              </a:rPr>
              <a:t>Frontend Development</a:t>
            </a:r>
            <a:r>
              <a:rPr lang="en-US" dirty="0">
                <a:latin typeface="Aptos (Body)"/>
              </a:rPr>
              <a:t> – Develop an interactive web interface using </a:t>
            </a:r>
            <a:r>
              <a:rPr lang="en-US" b="1" dirty="0">
                <a:latin typeface="Aptos (Body)"/>
              </a:rPr>
              <a:t>React, </a:t>
            </a:r>
            <a:r>
              <a:rPr lang="en-US" b="1" dirty="0" err="1">
                <a:latin typeface="Aptos (Body)"/>
              </a:rPr>
              <a:t>Vite</a:t>
            </a:r>
            <a:r>
              <a:rPr lang="en-US" b="1" dirty="0">
                <a:latin typeface="Aptos (Body)"/>
              </a:rPr>
              <a:t>, Tailwind CSS, and </a:t>
            </a:r>
            <a:r>
              <a:rPr lang="en-US" b="1" dirty="0" err="1">
                <a:latin typeface="Aptos (Body)"/>
              </a:rPr>
              <a:t>Recharts</a:t>
            </a:r>
            <a:r>
              <a:rPr lang="en-US" dirty="0">
                <a:latin typeface="Aptos (Body)"/>
              </a:rPr>
              <a:t> for portfolio management and visualization. </a:t>
            </a:r>
            <a:endParaRPr lang="en-US" dirty="0" smtClean="0">
              <a:latin typeface="Aptos (Body)"/>
            </a:endParaRPr>
          </a:p>
          <a:p>
            <a:pPr marL="285750" indent="-285750">
              <a:buFont typeface="Arial" panose="020B0604020202020204" pitchFamily="34" charset="0"/>
              <a:buChar char="•"/>
            </a:pPr>
            <a:endParaRPr lang="en-US" dirty="0">
              <a:latin typeface="Aptos (Body)"/>
            </a:endParaRPr>
          </a:p>
          <a:p>
            <a:pPr marL="285750" indent="-285750">
              <a:buFont typeface="Arial" panose="020B0604020202020204" pitchFamily="34" charset="0"/>
              <a:buChar char="•"/>
            </a:pPr>
            <a:r>
              <a:rPr lang="en-US" b="1" dirty="0">
                <a:latin typeface="Aptos (Body)"/>
              </a:rPr>
              <a:t>Financial Analysis &amp; AI Integration</a:t>
            </a:r>
            <a:r>
              <a:rPr lang="en-US" dirty="0">
                <a:latin typeface="Aptos (Body)"/>
              </a:rPr>
              <a:t> – Calculate portfolio returns, risk, diversification, and performance, and use </a:t>
            </a:r>
            <a:r>
              <a:rPr lang="en-US" b="1" dirty="0">
                <a:latin typeface="Aptos (Body)"/>
              </a:rPr>
              <a:t>AI to generate personalized portfolio insights and recommendations</a:t>
            </a:r>
            <a:r>
              <a:rPr lang="en-US" dirty="0">
                <a:latin typeface="Aptos (Body)"/>
              </a:rPr>
              <a:t>. </a:t>
            </a:r>
            <a:endParaRPr lang="en-US" dirty="0" smtClean="0">
              <a:latin typeface="Aptos (Body)"/>
            </a:endParaRPr>
          </a:p>
          <a:p>
            <a:pPr marL="285750" indent="-285750">
              <a:buFont typeface="Arial" panose="020B0604020202020204" pitchFamily="34" charset="0"/>
              <a:buChar char="•"/>
            </a:pPr>
            <a:endParaRPr lang="en-US" dirty="0">
              <a:latin typeface="Aptos (Body)"/>
            </a:endParaRPr>
          </a:p>
          <a:p>
            <a:pPr marL="285750" indent="-285750">
              <a:buFont typeface="Arial" panose="020B0604020202020204" pitchFamily="34" charset="0"/>
              <a:buChar char="•"/>
            </a:pPr>
            <a:r>
              <a:rPr lang="en-US" b="1" dirty="0">
                <a:latin typeface="Aptos (Body)"/>
              </a:rPr>
              <a:t>Testing &amp; System Demonstration</a:t>
            </a:r>
            <a:r>
              <a:rPr lang="en-US" dirty="0">
                <a:latin typeface="Aptos (Body)"/>
              </a:rPr>
              <a:t> – Test all major functionalities, including authentication, transactions, SIPs, analytics, AI responses, and dataset processing, followed by complete system demonstration.</a:t>
            </a:r>
          </a:p>
          <a:p>
            <a:endParaRPr lang="en-US" b="1" dirty="0"/>
          </a:p>
        </p:txBody>
      </p:sp>
    </p:spTree>
    <p:extLst>
      <p:ext uri="{BB962C8B-B14F-4D97-AF65-F5344CB8AC3E}">
        <p14:creationId xmlns:p14="http://schemas.microsoft.com/office/powerpoint/2010/main" val="3305623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sp>
        <p:nvSpPr>
          <p:cNvPr id="2" name="TextBox 1">
            <a:extLst>
              <a:ext uri="{FF2B5EF4-FFF2-40B4-BE49-F238E27FC236}">
                <a16:creationId xmlns:a16="http://schemas.microsoft.com/office/drawing/2014/main" id="{3F0303AA-CEE8-2513-1736-59CB3A5EF8E4}"/>
              </a:ext>
            </a:extLst>
          </p:cNvPr>
          <p:cNvSpPr txBox="1"/>
          <p:nvPr/>
        </p:nvSpPr>
        <p:spPr>
          <a:xfrm>
            <a:off x="1261872" y="2191947"/>
            <a:ext cx="8814816" cy="3139321"/>
          </a:xfrm>
          <a:prstGeom prst="rect">
            <a:avLst/>
          </a:prstGeom>
          <a:noFill/>
        </p:spPr>
        <p:txBody>
          <a:bodyPr wrap="square" rtlCol="0">
            <a:spAutoFit/>
          </a:bodyPr>
          <a:lstStyle/>
          <a:p>
            <a:pPr marL="342900" lvl="0" indent="-342900">
              <a:buAutoNum type="arabicPeriod"/>
            </a:pPr>
            <a:r>
              <a:rPr lang="en-US" b="1" dirty="0"/>
              <a:t>Technical:</a:t>
            </a:r>
            <a:r>
              <a:rPr lang="en-US" dirty="0"/>
              <a:t> Java, Spring Boot, REST APIs, MySQL, and React are available and suitable for the project. </a:t>
            </a:r>
          </a:p>
          <a:p>
            <a:pPr marL="342900" lvl="0" indent="-342900">
              <a:buAutoNum type="arabicPeriod"/>
            </a:pPr>
            <a:endParaRPr lang="en-US" dirty="0"/>
          </a:p>
          <a:p>
            <a:pPr marL="342900" indent="-342900">
              <a:buFontTx/>
              <a:buAutoNum type="arabicPeriod"/>
            </a:pPr>
            <a:r>
              <a:rPr lang="en-US" b="1" dirty="0"/>
              <a:t>Operational:</a:t>
            </a:r>
            <a:r>
              <a:rPr lang="en-US" dirty="0"/>
              <a:t> Users can easily track investments, view portfolio performance, and analyze risk through the system.</a:t>
            </a:r>
          </a:p>
          <a:p>
            <a:pPr marL="342900" indent="-342900">
              <a:buFontTx/>
              <a:buAutoNum type="arabicPeriod"/>
            </a:pPr>
            <a:endParaRPr lang="en-US" dirty="0"/>
          </a:p>
          <a:p>
            <a:pPr marL="342900" indent="-342900">
              <a:buFontTx/>
              <a:buAutoNum type="arabicPeriod"/>
            </a:pPr>
            <a:r>
              <a:rPr lang="en-US" b="1" dirty="0"/>
              <a:t>Economic:</a:t>
            </a:r>
            <a:r>
              <a:rPr lang="en-US" dirty="0"/>
              <a:t> The project uses mostly open-source technologies and does not require specialized hardware.</a:t>
            </a:r>
          </a:p>
          <a:p>
            <a:endParaRPr lang="en-US" dirty="0">
              <a:latin typeface="Javanese Text" panose="02000000000000000000" pitchFamily="2" charset="0"/>
              <a:ea typeface="DengXian" panose="02010600030101010101" pitchFamily="2" charset="-122"/>
            </a:endParaRPr>
          </a:p>
          <a:p>
            <a:pPr lvl="0"/>
            <a:endParaRPr lang="en-US" b="1" dirty="0"/>
          </a:p>
          <a:p>
            <a:pPr marL="285750" indent="-285750">
              <a:buFont typeface="Arial" panose="020B0604020202020204" pitchFamily="34" charset="0"/>
              <a:buChar char="•"/>
            </a:pPr>
            <a:endParaRPr lang="en-US" b="1" dirty="0">
              <a:solidFill>
                <a:srgbClr val="FF0000"/>
              </a:solidFill>
            </a:endParaRP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169</TotalTime>
  <Words>742</Words>
  <Application>Microsoft Office PowerPoint</Application>
  <PresentationFormat>Widescreen</PresentationFormat>
  <Paragraphs>86</Paragraphs>
  <Slides>10</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vt:i4>
      </vt:variant>
    </vt:vector>
  </HeadingPairs>
  <TitlesOfParts>
    <vt:vector size="21" baseType="lpstr">
      <vt:lpstr>Aptos</vt:lpstr>
      <vt:lpstr>Aptos (Body)</vt:lpstr>
      <vt:lpstr>Aptos Display</vt:lpstr>
      <vt:lpstr>Arial</vt:lpstr>
      <vt:lpstr>Calibri</vt:lpstr>
      <vt:lpstr>Cambria</vt:lpstr>
      <vt:lpstr>DengXian</vt:lpstr>
      <vt:lpstr>Javanese Text</vt:lpstr>
      <vt:lpstr>Poppins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srikanth ch</dc:creator>
  <cp:lastModifiedBy>Admin</cp:lastModifiedBy>
  <cp:revision>40</cp:revision>
  <dcterms:created xsi:type="dcterms:W3CDTF">2026-08-08T06:33:56Z</dcterms:created>
  <dcterms:modified xsi:type="dcterms:W3CDTF">2026-10-29T02:47:04Z</dcterms:modified>
</cp:coreProperties>
</file>