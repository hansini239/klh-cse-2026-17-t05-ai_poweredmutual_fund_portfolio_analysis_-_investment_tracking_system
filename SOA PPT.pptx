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1"/>
  </p:notesMasterIdLst>
  <p:sldIdLst>
    <p:sldId id="262" r:id="rId3"/>
    <p:sldId id="707" r:id="rId4"/>
    <p:sldId id="257" r:id="rId5"/>
    <p:sldId id="903" r:id="rId6"/>
    <p:sldId id="902" r:id="rId7"/>
    <p:sldId id="258" r:id="rId8"/>
    <p:sldId id="259" r:id="rId9"/>
    <p:sldId id="260"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B03022-1F30-4885-B78F-22C04F8A973E}" type="doc">
      <dgm:prSet loTypeId="urn:microsoft.com/office/officeart/2005/8/layout/venn3" loCatId="relationship" qsTypeId="urn:microsoft.com/office/officeart/2005/8/quickstyle/3d7" qsCatId="3D" csTypeId="urn:microsoft.com/office/officeart/2005/8/colors/colorful1" csCatId="colorful" phldr="1"/>
      <dgm:spPr/>
      <dgm:t>
        <a:bodyPr/>
        <a:lstStyle/>
        <a:p>
          <a:endParaRPr lang="en-IN"/>
        </a:p>
      </dgm:t>
    </dgm:pt>
    <dgm:pt modelId="{4094C340-BA43-4FE7-BEDC-37D235AAAD16}" type="pres">
      <dgm:prSet presAssocID="{84B03022-1F30-4885-B78F-22C04F8A973E}" presName="Name0" presStyleCnt="0">
        <dgm:presLayoutVars>
          <dgm:dir/>
          <dgm:resizeHandles val="exact"/>
        </dgm:presLayoutVars>
      </dgm:prSet>
      <dgm:spPr/>
    </dgm:pt>
  </dgm:ptLst>
  <dgm:cxnLst>
    <dgm:cxn modelId="{536B444D-E965-4C7A-901B-8D59695FE972}" type="presOf" srcId="{84B03022-1F30-4885-B78F-22C04F8A973E}" destId="{4094C340-BA43-4FE7-BEDC-37D235AAAD16}" srcOrd="0" destOrd="0" presId="urn:microsoft.com/office/officeart/2005/8/layout/venn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7">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666E0-C270-4F2D-A5DC-96BE795B540E}" type="datetimeFigureOut">
              <a:rPr lang="en-US" smtClean="0"/>
              <a:t>8/20/2026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19044B-B5AF-477C-950C-4ED51263438D}" type="slidenum">
              <a:rPr lang="en-US" smtClean="0"/>
              <a:t>‹#›</a:t>
            </a:fld>
            <a:endParaRPr lang="en-US"/>
          </a:p>
        </p:txBody>
      </p:sp>
    </p:spTree>
    <p:extLst>
      <p:ext uri="{BB962C8B-B14F-4D97-AF65-F5344CB8AC3E}">
        <p14:creationId xmlns:p14="http://schemas.microsoft.com/office/powerpoint/2010/main" val="2208606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84AE20-9EAE-4BB7-93AC-7EFA05BCA1CF}" type="slidenum">
              <a:rPr lang="en-IN" smtClean="0"/>
              <a:t>1</a:t>
            </a:fld>
            <a:endParaRPr lang="en-IN" dirty="0"/>
          </a:p>
        </p:txBody>
      </p:sp>
    </p:spTree>
    <p:extLst>
      <p:ext uri="{BB962C8B-B14F-4D97-AF65-F5344CB8AC3E}">
        <p14:creationId xmlns:p14="http://schemas.microsoft.com/office/powerpoint/2010/main" val="2227473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E162C7A-CC9D-4035-A213-68F795EB7A2A}" type="slidenum">
              <a:rPr lang="en-IN" smtClean="0"/>
              <a:t>5</a:t>
            </a:fld>
            <a:endParaRPr lang="en-IN"/>
          </a:p>
        </p:txBody>
      </p:sp>
    </p:spTree>
    <p:extLst>
      <p:ext uri="{BB962C8B-B14F-4D97-AF65-F5344CB8AC3E}">
        <p14:creationId xmlns:p14="http://schemas.microsoft.com/office/powerpoint/2010/main" val="1647703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2BE77-A6B4-BF9A-F59F-6A1C17E6D4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F4D497-63DE-C270-40A4-331A37D0B0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809C3A-1739-D230-186B-84454F605084}"/>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5" name="Footer Placeholder 4">
            <a:extLst>
              <a:ext uri="{FF2B5EF4-FFF2-40B4-BE49-F238E27FC236}">
                <a16:creationId xmlns:a16="http://schemas.microsoft.com/office/drawing/2014/main" id="{F5A63778-C058-1235-D3A3-7BCFF3CD01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9A1708-DD63-B8A6-CDE5-A057B2CF873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408699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A0280-1254-E679-102E-D8CC13C8C6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784D78-2E62-1C74-D557-5115FDC295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B02B77-F303-2F09-80CB-35B74D2F58C9}"/>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5" name="Footer Placeholder 4">
            <a:extLst>
              <a:ext uri="{FF2B5EF4-FFF2-40B4-BE49-F238E27FC236}">
                <a16:creationId xmlns:a16="http://schemas.microsoft.com/office/drawing/2014/main" id="{A13359BF-B012-085F-389A-331E721BC9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1B0460-9CE8-D43D-79E7-A7A9144A3AD0}"/>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630162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87D46-3DEF-526E-5F46-4ADACBEC0A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5A517A-D5B3-3AF2-38BE-1D89988138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602125-0289-3272-156D-A3C31E848252}"/>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5" name="Footer Placeholder 4">
            <a:extLst>
              <a:ext uri="{FF2B5EF4-FFF2-40B4-BE49-F238E27FC236}">
                <a16:creationId xmlns:a16="http://schemas.microsoft.com/office/drawing/2014/main" id="{659971A6-CC5A-CC09-A1F2-E284284E87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9898D5-FC90-9DA1-FE2F-D07DEDDAD616}"/>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039952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89433-0D52-95EF-D78E-4FC912D4FC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1A2DAE-6EF3-6910-5373-1A5DF40909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91AE70-38B9-B797-DE71-57CAE4C82D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25E50E-F402-07A4-460F-3431CA999232}"/>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6" name="Footer Placeholder 5">
            <a:extLst>
              <a:ext uri="{FF2B5EF4-FFF2-40B4-BE49-F238E27FC236}">
                <a16:creationId xmlns:a16="http://schemas.microsoft.com/office/drawing/2014/main" id="{664D7A32-7B4B-0167-CBD3-4FB4F42F73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EB928D-DF00-B9C5-1A36-1E52C14CBBB7}"/>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467198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CFE06-EEED-5CC3-A38A-576DD2C8AF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B0BA8C-9EDE-BB49-BD35-49BAFCB8D3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1DDD39-7D2C-4493-F56F-81F6BC3F98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14469B-6213-D34D-07A9-FCDC82AC0F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6440F3-3F2D-85CC-D2E2-6D0D54B8A2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346DE1-9818-60AF-EAF8-FFED39BA5E89}"/>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8" name="Footer Placeholder 7">
            <a:extLst>
              <a:ext uri="{FF2B5EF4-FFF2-40B4-BE49-F238E27FC236}">
                <a16:creationId xmlns:a16="http://schemas.microsoft.com/office/drawing/2014/main" id="{265E9E00-6460-F360-EDFD-B03FBA2C63B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BFFDD7-5BFE-EA3B-6250-A381A569564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36251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E0FC-511C-2C2C-E510-CDDF263418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796671-3C71-777F-3A4D-A89D7E5D68FA}"/>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4" name="Footer Placeholder 3">
            <a:extLst>
              <a:ext uri="{FF2B5EF4-FFF2-40B4-BE49-F238E27FC236}">
                <a16:creationId xmlns:a16="http://schemas.microsoft.com/office/drawing/2014/main" id="{30024A6A-95A8-2753-339B-FC09D4CAEB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9E07AF-B1A0-E180-D5AC-3F2F0031C98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182466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8527A8-9BA5-6E6B-9B96-E6F6FADC46A2}"/>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3" name="Footer Placeholder 2">
            <a:extLst>
              <a:ext uri="{FF2B5EF4-FFF2-40B4-BE49-F238E27FC236}">
                <a16:creationId xmlns:a16="http://schemas.microsoft.com/office/drawing/2014/main" id="{4EAB8C98-6C07-7CF9-228C-EF7E651474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347070-DD15-038E-31F6-EF9EAD920E5F}"/>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48321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28049-15BD-A06B-510D-51342C765D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77F51D-EFF8-F91B-8F7D-613493BF84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43686E-4EC3-3B25-F2B1-DEF00AA476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24C9A3-A390-80A1-50AD-21AB6B252580}"/>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6" name="Footer Placeholder 5">
            <a:extLst>
              <a:ext uri="{FF2B5EF4-FFF2-40B4-BE49-F238E27FC236}">
                <a16:creationId xmlns:a16="http://schemas.microsoft.com/office/drawing/2014/main" id="{E83FB16C-3A67-2F8D-2205-B1FF3BE2C6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137A69-0E62-6668-A184-42A6DBF6B07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089480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AFB01-3CD4-CFD9-5A71-411262FAAC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DCEFF8-AB3F-42A6-ADAF-1080336CCB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914F7C-5D5A-7C5D-50F2-B5067E1E61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E767C3-2493-217A-8E1D-03F6BBB4ACBD}"/>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6" name="Footer Placeholder 5">
            <a:extLst>
              <a:ext uri="{FF2B5EF4-FFF2-40B4-BE49-F238E27FC236}">
                <a16:creationId xmlns:a16="http://schemas.microsoft.com/office/drawing/2014/main" id="{348FEBF7-64BD-7F85-1240-C02E3705BD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064DB1-56E3-B1C9-BED9-904A25C29434}"/>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212973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BCD61-B1C9-A34D-6022-ADB9D4B22C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24F7E8-10E7-E6C8-474D-2A06ED5015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E7D405-5D32-C40F-1430-5F5A97DD4FAF}"/>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5" name="Footer Placeholder 4">
            <a:extLst>
              <a:ext uri="{FF2B5EF4-FFF2-40B4-BE49-F238E27FC236}">
                <a16:creationId xmlns:a16="http://schemas.microsoft.com/office/drawing/2014/main" id="{7BD9955A-6D2E-8ABB-AF09-EC9590F01F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9E1B21-A5D1-C625-FE7B-A0232576A69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917886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699036-2042-AC93-5117-4059611F3C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2DD23D-712F-710C-F8D8-B4B2B3E059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095516-E45F-6DA1-08EA-04E781DF5CCB}"/>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5" name="Footer Placeholder 4">
            <a:extLst>
              <a:ext uri="{FF2B5EF4-FFF2-40B4-BE49-F238E27FC236}">
                <a16:creationId xmlns:a16="http://schemas.microsoft.com/office/drawing/2014/main" id="{8B171DB9-D5C7-9EFA-0532-06B0BAAF41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735D92-5A89-BE34-CC33-93F56B3EDB49}"/>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38734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1F6EA6A-8FF5-49DF-BDDD-F7431B447D8F}" type="datetime3">
              <a:rPr lang="en-US" smtClean="0"/>
              <a:t>20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0808602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411EB6-9770-43AB-BBCE-044F1DB66B82}" type="datetime3">
              <a:rPr lang="en-US" smtClean="0"/>
              <a:t>20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3482983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C905DC-9CDD-41AE-979C-F366BC0443ED}" type="datetime3">
              <a:rPr lang="en-US" smtClean="0"/>
              <a:t>20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7399230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84FAC05-A025-4B8A-AB88-2AE8812F8A48}" type="datetime3">
              <a:rPr lang="en-US" smtClean="0"/>
              <a:t>20 August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719083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87906D5-6813-455D-BAA0-28A983958C32}" type="datetime3">
              <a:rPr lang="en-US" smtClean="0"/>
              <a:t>20 August 2026</a:t>
            </a:fld>
            <a:endParaRPr lang="en-IN"/>
          </a:p>
        </p:txBody>
      </p:sp>
      <p:sp>
        <p:nvSpPr>
          <p:cNvPr id="8" name="Footer Placeholder 7"/>
          <p:cNvSpPr>
            <a:spLocks noGrp="1"/>
          </p:cNvSpPr>
          <p:nvPr>
            <p:ph type="ftr" sz="quarter" idx="11"/>
          </p:nvPr>
        </p:nvSpPr>
        <p:spPr/>
        <p:txBody>
          <a:bodyPr/>
          <a:lstStyle/>
          <a:p>
            <a:r>
              <a:rPr lang="en-IN"/>
              <a:t>Ph.D. Viva Voce</a:t>
            </a:r>
          </a:p>
        </p:txBody>
      </p:sp>
      <p:sp>
        <p:nvSpPr>
          <p:cNvPr id="9" name="Slide Number Placeholder 8"/>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5784857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F4309C4-DF5F-4FAA-9214-A2117415D598}" type="datetime3">
              <a:rPr lang="en-US" smtClean="0"/>
              <a:t>20 August 2026</a:t>
            </a:fld>
            <a:endParaRPr lang="en-IN"/>
          </a:p>
        </p:txBody>
      </p:sp>
      <p:sp>
        <p:nvSpPr>
          <p:cNvPr id="4" name="Footer Placeholder 3"/>
          <p:cNvSpPr>
            <a:spLocks noGrp="1"/>
          </p:cNvSpPr>
          <p:nvPr>
            <p:ph type="ftr" sz="quarter" idx="11"/>
          </p:nvPr>
        </p:nvSpPr>
        <p:spPr/>
        <p:txBody>
          <a:bodyPr/>
          <a:lstStyle/>
          <a:p>
            <a:r>
              <a:rPr lang="en-IN"/>
              <a:t>Ph.D. Viva Voce</a:t>
            </a:r>
          </a:p>
        </p:txBody>
      </p:sp>
      <p:sp>
        <p:nvSpPr>
          <p:cNvPr id="5" name="Slide Number Placeholder 4"/>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7338849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683E30-D762-4164-BBF9-9799116ED611}" type="datetime3">
              <a:rPr lang="en-US" smtClean="0"/>
              <a:t>20 August 2026</a:t>
            </a:fld>
            <a:endParaRPr lang="en-IN"/>
          </a:p>
        </p:txBody>
      </p:sp>
      <p:sp>
        <p:nvSpPr>
          <p:cNvPr id="3" name="Footer Placeholder 2"/>
          <p:cNvSpPr>
            <a:spLocks noGrp="1"/>
          </p:cNvSpPr>
          <p:nvPr>
            <p:ph type="ftr" sz="quarter" idx="11"/>
          </p:nvPr>
        </p:nvSpPr>
        <p:spPr/>
        <p:txBody>
          <a:bodyPr/>
          <a:lstStyle/>
          <a:p>
            <a:r>
              <a:rPr lang="en-IN"/>
              <a:t>Ph.D. Viva Voce</a:t>
            </a:r>
          </a:p>
        </p:txBody>
      </p:sp>
      <p:sp>
        <p:nvSpPr>
          <p:cNvPr id="4" name="Slide Number Placeholder 3"/>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6718867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EEB4AA-F6FE-4EF1-9FE6-D5606E858D35}" type="datetime3">
              <a:rPr lang="en-US" smtClean="0"/>
              <a:t>20 August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474917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7B547F9-D0DE-4919-BAA4-23065C38E70B}" type="datetime3">
              <a:rPr lang="en-US" smtClean="0"/>
              <a:t>20 August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0463319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0D9772-7494-4C65-A0D8-1FBD740B2E65}" type="datetime3">
              <a:rPr lang="en-US" smtClean="0"/>
              <a:t>20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3075840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BB089DC-0019-49C7-8AD2-EF5D896393D8}" type="datetime3">
              <a:rPr lang="en-US" smtClean="0"/>
              <a:t>20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204595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711898-360B-AD49-DD62-FA3B7B6626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A2BE89-A274-4461-2B81-5058744631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4B2A70-C1DC-D783-67E1-97822E79A5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27863A-4956-4659-9192-3D74DA4F7578}" type="datetimeFigureOut">
              <a:rPr lang="en-US" smtClean="0"/>
              <a:t>8/20/2026</a:t>
            </a:fld>
            <a:endParaRPr lang="en-US"/>
          </a:p>
        </p:txBody>
      </p:sp>
      <p:sp>
        <p:nvSpPr>
          <p:cNvPr id="5" name="Footer Placeholder 4">
            <a:extLst>
              <a:ext uri="{FF2B5EF4-FFF2-40B4-BE49-F238E27FC236}">
                <a16:creationId xmlns:a16="http://schemas.microsoft.com/office/drawing/2014/main" id="{08C5D01A-229C-E067-7B4E-BC254D6544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0741767-E51C-1DAB-E3C8-F047E87A83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39234F-78F1-4984-9C4D-D4C7AB587871}" type="slidenum">
              <a:rPr lang="en-US" smtClean="0"/>
              <a:t>‹#›</a:t>
            </a:fld>
            <a:endParaRPr lang="en-US"/>
          </a:p>
        </p:txBody>
      </p:sp>
    </p:spTree>
    <p:extLst>
      <p:ext uri="{BB962C8B-B14F-4D97-AF65-F5344CB8AC3E}">
        <p14:creationId xmlns:p14="http://schemas.microsoft.com/office/powerpoint/2010/main" val="1645637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16266A-CA82-4709-A4C2-B8B2AD8F4816}" type="datetime3">
              <a:rPr lang="en-US" smtClean="0"/>
              <a:t>20 August 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Ph.D. Viva Voce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AD1135-6E10-4422-AC8B-257B84239C9C}" type="slidenum">
              <a:rPr lang="en-IN" smtClean="0"/>
              <a:t>‹#›</a:t>
            </a:fld>
            <a:endParaRPr lang="en-IN"/>
          </a:p>
        </p:txBody>
      </p:sp>
    </p:spTree>
    <p:extLst>
      <p:ext uri="{BB962C8B-B14F-4D97-AF65-F5344CB8AC3E}">
        <p14:creationId xmlns:p14="http://schemas.microsoft.com/office/powerpoint/2010/main" val="29137664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hyperlink" Target="https://svgsilh.com/03a9f4/image/98809.html" TargetMode="External"/><Relationship Id="rId7" Type="http://schemas.openxmlformats.org/officeDocument/2006/relationships/diagramColors" Target="../diagrams/colors1.xml"/><Relationship Id="rId2" Type="http://schemas.openxmlformats.org/officeDocument/2006/relationships/image" Target="../media/image2.svg"/><Relationship Id="rId1" Type="http://schemas.openxmlformats.org/officeDocument/2006/relationships/slideLayout" Target="../slideLayouts/slideLayout18.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500C0830-A1CA-96AE-68D2-18C57ABE4802}"/>
              </a:ext>
            </a:extLst>
          </p:cNvPr>
          <p:cNvSpPr txBox="1"/>
          <p:nvPr/>
        </p:nvSpPr>
        <p:spPr>
          <a:xfrm>
            <a:off x="2995612" y="2868213"/>
            <a:ext cx="6200774" cy="492443"/>
          </a:xfrm>
          <a:prstGeom prst="rect">
            <a:avLst/>
          </a:prstGeom>
          <a:noFill/>
          <a:effectLst>
            <a:glow rad="139700">
              <a:schemeClr val="accent2">
                <a:satMod val="175000"/>
                <a:alpha val="40000"/>
              </a:schemeClr>
            </a:glow>
          </a:effectLst>
        </p:spPr>
        <p:txBody>
          <a:bodyPr wrap="square">
            <a:spAutoFit/>
          </a:bodyPr>
          <a:lstStyle/>
          <a:p>
            <a:pPr algn="ctr"/>
            <a:endParaRPr lang="en-IN" sz="600" dirty="0">
              <a:latin typeface="Times New Roman" panose="02020603050405020304" pitchFamily="18" charset="0"/>
              <a:cs typeface="Times New Roman" panose="02020603050405020304" pitchFamily="18" charset="0"/>
            </a:endParaRPr>
          </a:p>
          <a:p>
            <a:pPr algn="ctr"/>
            <a:r>
              <a:rPr lang="en-IN" sz="2000" b="1" dirty="0">
                <a:solidFill>
                  <a:srgbClr val="FF0000"/>
                </a:solidFill>
                <a:latin typeface="Times New Roman" panose="02020603050405020304" pitchFamily="18" charset="0"/>
                <a:cs typeface="Times New Roman" panose="02020603050405020304" pitchFamily="18" charset="0"/>
              </a:rPr>
              <a:t>Date&amp; Time</a:t>
            </a:r>
          </a:p>
        </p:txBody>
      </p:sp>
      <p:graphicFrame>
        <p:nvGraphicFramePr>
          <p:cNvPr id="18" name="Table 17">
            <a:extLst>
              <a:ext uri="{FF2B5EF4-FFF2-40B4-BE49-F238E27FC236}">
                <a16:creationId xmlns:a16="http://schemas.microsoft.com/office/drawing/2014/main" id="{BD22BC4D-4857-7D81-7819-37B7BB426420}"/>
              </a:ext>
            </a:extLst>
          </p:cNvPr>
          <p:cNvGraphicFramePr>
            <a:graphicFrameLocks noGrp="1"/>
          </p:cNvGraphicFramePr>
          <p:nvPr>
            <p:extLst>
              <p:ext uri="{D42A27DB-BD31-4B8C-83A1-F6EECF244321}">
                <p14:modId xmlns:p14="http://schemas.microsoft.com/office/powerpoint/2010/main" val="2139493981"/>
              </p:ext>
            </p:extLst>
          </p:nvPr>
        </p:nvGraphicFramePr>
        <p:xfrm>
          <a:off x="8193271" y="4898509"/>
          <a:ext cx="3702050" cy="1066800"/>
        </p:xfrm>
        <a:graphic>
          <a:graphicData uri="http://schemas.openxmlformats.org/drawingml/2006/table">
            <a:tbl>
              <a:tblPr firstRow="1" bandRow="1">
                <a:tableStyleId>{5940675A-B579-460E-94D1-54222C63F5DA}</a:tableStyleId>
              </a:tblPr>
              <a:tblGrid>
                <a:gridCol w="3702050">
                  <a:extLst>
                    <a:ext uri="{9D8B030D-6E8A-4147-A177-3AD203B41FA5}">
                      <a16:colId xmlns:a16="http://schemas.microsoft.com/office/drawing/2014/main" val="40058472"/>
                    </a:ext>
                  </a:extLst>
                </a:gridCol>
              </a:tblGrid>
              <a:tr h="7523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solidFill>
                            <a:srgbClr val="C00000"/>
                          </a:solidFill>
                          <a:latin typeface="Times New Roman" panose="02020603050405020304" pitchFamily="18" charset="0"/>
                          <a:cs typeface="Times New Roman" panose="02020603050405020304" pitchFamily="18" charset="0"/>
                        </a:rPr>
                        <a:t>Team Members</a:t>
                      </a:r>
                    </a:p>
                    <a:p>
                      <a:pPr marL="0" algn="l" defTabSz="914400" rtl="0" eaLnBrk="1" latinLnBrk="0" hangingPunct="1"/>
                      <a:r>
                        <a:rPr lang="en-IN" sz="1600" b="1" kern="1200" dirty="0">
                          <a:solidFill>
                            <a:schemeClr val="dk1"/>
                          </a:solidFill>
                          <a:latin typeface="Times New Roman" panose="02020603050405020304" pitchFamily="18" charset="0"/>
                          <a:ea typeface="Cambria"/>
                          <a:cs typeface="Times New Roman" panose="02020603050405020304" pitchFamily="18" charset="0"/>
                        </a:rPr>
                        <a:t>P Hansini – 2420030239</a:t>
                      </a:r>
                    </a:p>
                    <a:p>
                      <a:pPr marL="0" algn="l" defTabSz="914400" rtl="0" eaLnBrk="1" latinLnBrk="0" hangingPunct="1"/>
                      <a:r>
                        <a:rPr lang="en-IN" sz="1600" b="1" kern="1200" dirty="0">
                          <a:solidFill>
                            <a:schemeClr val="dk1"/>
                          </a:solidFill>
                          <a:latin typeface="Times New Roman" panose="02020603050405020304" pitchFamily="18" charset="0"/>
                          <a:ea typeface="Cambria"/>
                          <a:cs typeface="Times New Roman" panose="02020603050405020304" pitchFamily="18" charset="0"/>
                        </a:rPr>
                        <a:t>G Sreevarsha – 2420030241</a:t>
                      </a:r>
                    </a:p>
                    <a:p>
                      <a:pPr marL="0" algn="l" defTabSz="914400" rtl="0" eaLnBrk="1" latinLnBrk="0" hangingPunct="1"/>
                      <a:r>
                        <a:rPr lang="en-IN" sz="1600" b="1" kern="1200" dirty="0">
                          <a:solidFill>
                            <a:schemeClr val="dk1"/>
                          </a:solidFill>
                          <a:latin typeface="Times New Roman" panose="02020603050405020304" pitchFamily="18" charset="0"/>
                          <a:ea typeface="Cambria"/>
                          <a:cs typeface="Times New Roman" panose="02020603050405020304" pitchFamily="18" charset="0"/>
                        </a:rPr>
                        <a:t>Mani Charan Chava - 2420030545</a:t>
                      </a:r>
                      <a:endParaRPr lang="en-IN" sz="1400" b="1" kern="1200" dirty="0">
                        <a:solidFill>
                          <a:schemeClr val="dk1"/>
                        </a:solidFill>
                        <a:latin typeface="Times New Roman" panose="02020603050405020304" pitchFamily="18" charset="0"/>
                        <a:ea typeface="Cambri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21" name="Group 20">
            <a:extLst>
              <a:ext uri="{FF2B5EF4-FFF2-40B4-BE49-F238E27FC236}">
                <a16:creationId xmlns:a16="http://schemas.microsoft.com/office/drawing/2014/main" id="{B5A8CA37-C090-A9D8-75D0-A7A7D5DEBE24}"/>
              </a:ext>
            </a:extLst>
          </p:cNvPr>
          <p:cNvGrpSpPr/>
          <p:nvPr/>
        </p:nvGrpSpPr>
        <p:grpSpPr>
          <a:xfrm>
            <a:off x="8038280" y="4765558"/>
            <a:ext cx="230240" cy="232995"/>
            <a:chOff x="1567861" y="1613059"/>
            <a:chExt cx="230240" cy="232995"/>
          </a:xfrm>
          <a:solidFill>
            <a:srgbClr val="FF66FF"/>
          </a:solidFill>
        </p:grpSpPr>
        <p:sp>
          <p:nvSpPr>
            <p:cNvPr id="22" name="Isosceles Triangle 21">
              <a:extLst>
                <a:ext uri="{FF2B5EF4-FFF2-40B4-BE49-F238E27FC236}">
                  <a16:creationId xmlns:a16="http://schemas.microsoft.com/office/drawing/2014/main" id="{E48399A6-AAB5-B502-9670-34E0FCDF5541}"/>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23" name="Isosceles Triangle 22">
              <a:extLst>
                <a:ext uri="{FF2B5EF4-FFF2-40B4-BE49-F238E27FC236}">
                  <a16:creationId xmlns:a16="http://schemas.microsoft.com/office/drawing/2014/main" id="{67E59050-351C-0873-0298-AB77EA522C22}"/>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aphicFrame>
        <p:nvGraphicFramePr>
          <p:cNvPr id="30" name="Table 29">
            <a:extLst>
              <a:ext uri="{FF2B5EF4-FFF2-40B4-BE49-F238E27FC236}">
                <a16:creationId xmlns:a16="http://schemas.microsoft.com/office/drawing/2014/main" id="{9091FADF-77DB-CB1D-CD72-56C53CF76308}"/>
              </a:ext>
            </a:extLst>
          </p:cNvPr>
          <p:cNvGraphicFramePr>
            <a:graphicFrameLocks noGrp="1"/>
          </p:cNvGraphicFramePr>
          <p:nvPr>
            <p:extLst>
              <p:ext uri="{D42A27DB-BD31-4B8C-83A1-F6EECF244321}">
                <p14:modId xmlns:p14="http://schemas.microsoft.com/office/powerpoint/2010/main" val="2920506269"/>
              </p:ext>
            </p:extLst>
          </p:nvPr>
        </p:nvGraphicFramePr>
        <p:xfrm>
          <a:off x="-795813" y="4774125"/>
          <a:ext cx="5902325" cy="1332118"/>
        </p:xfrm>
        <a:graphic>
          <a:graphicData uri="http://schemas.openxmlformats.org/drawingml/2006/table">
            <a:tbl>
              <a:tblPr firstRow="1" bandRow="1">
                <a:tableStyleId>{5940675A-B579-460E-94D1-54222C63F5DA}</a:tableStyleId>
              </a:tblPr>
              <a:tblGrid>
                <a:gridCol w="1373565">
                  <a:extLst>
                    <a:ext uri="{9D8B030D-6E8A-4147-A177-3AD203B41FA5}">
                      <a16:colId xmlns:a16="http://schemas.microsoft.com/office/drawing/2014/main" val="40058472"/>
                    </a:ext>
                  </a:extLst>
                </a:gridCol>
                <a:gridCol w="4528760">
                  <a:extLst>
                    <a:ext uri="{9D8B030D-6E8A-4147-A177-3AD203B41FA5}">
                      <a16:colId xmlns:a16="http://schemas.microsoft.com/office/drawing/2014/main" val="1330242319"/>
                    </a:ext>
                  </a:extLst>
                </a:gridCol>
              </a:tblGrid>
              <a:tr h="1332118">
                <a:tc>
                  <a:txBody>
                    <a:bodyPr/>
                    <a:lstStyle/>
                    <a:p>
                      <a:endParaRPr lang="en-IN"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500" b="1" dirty="0">
                        <a:solidFill>
                          <a:srgbClr val="C00000"/>
                        </a:solidFill>
                        <a:latin typeface="Times New Roman" panose="02020603050405020304" pitchFamily="18" charset="0"/>
                        <a:cs typeface="Times New Roman" panose="02020603050405020304" pitchFamily="18" charset="0"/>
                      </a:endParaRPr>
                    </a:p>
                    <a:p>
                      <a:r>
                        <a:rPr lang="en-IN" sz="1600" b="1" dirty="0">
                          <a:solidFill>
                            <a:srgbClr val="C00000"/>
                          </a:solidFill>
                          <a:latin typeface="Times New Roman" panose="02020603050405020304" pitchFamily="18" charset="0"/>
                          <a:cs typeface="Times New Roman" panose="02020603050405020304" pitchFamily="18" charset="0"/>
                        </a:rPr>
                        <a:t>Under the Guidance of</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Dr.Venkateswari Ketineni</a:t>
                      </a: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 </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Department of </a:t>
                      </a:r>
                      <a:r>
                        <a:rPr lang="en-US" sz="1400" b="1" dirty="0">
                          <a:solidFill>
                            <a:prstClr val="black"/>
                          </a:solidFill>
                          <a:latin typeface="Times New Roman" panose="02020603050405020304" pitchFamily="18" charset="0"/>
                          <a:ea typeface="Cambria"/>
                          <a:cs typeface="Times New Roman" panose="02020603050405020304" pitchFamily="18" charset="0"/>
                          <a:sym typeface="Cambria"/>
                        </a:rPr>
                        <a:t>Computer Science and Engineering, </a:t>
                      </a: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KLH CSE Bowrampet Campus</a:t>
                      </a:r>
                      <a:endParaRPr lang="en-US" sz="1400" dirty="0">
                        <a:solidFill>
                          <a:schemeClr val="dk1"/>
                        </a:solidFill>
                        <a:latin typeface="Times New Roman" panose="02020603050405020304" pitchFamily="18" charset="0"/>
                        <a:ea typeface="Cambria"/>
                        <a:cs typeface="Times New Roman" panose="02020603050405020304" pitchFamily="18" charset="0"/>
                        <a:sym typeface="Arial"/>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31" name="Group 30">
            <a:extLst>
              <a:ext uri="{FF2B5EF4-FFF2-40B4-BE49-F238E27FC236}">
                <a16:creationId xmlns:a16="http://schemas.microsoft.com/office/drawing/2014/main" id="{8A67E7A6-1F33-FBD3-09B8-F35F17C8F890}"/>
              </a:ext>
            </a:extLst>
          </p:cNvPr>
          <p:cNvGrpSpPr/>
          <p:nvPr/>
        </p:nvGrpSpPr>
        <p:grpSpPr>
          <a:xfrm>
            <a:off x="442519" y="4562547"/>
            <a:ext cx="230240" cy="232995"/>
            <a:chOff x="1567861" y="1613059"/>
            <a:chExt cx="230240" cy="232995"/>
          </a:xfrm>
          <a:solidFill>
            <a:srgbClr val="00B0F0"/>
          </a:solidFill>
        </p:grpSpPr>
        <p:sp>
          <p:nvSpPr>
            <p:cNvPr id="32" name="Isosceles Triangle 31">
              <a:extLst>
                <a:ext uri="{FF2B5EF4-FFF2-40B4-BE49-F238E27FC236}">
                  <a16:creationId xmlns:a16="http://schemas.microsoft.com/office/drawing/2014/main" id="{FE269535-B3A3-75F2-310C-D43D8AC3F905}"/>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33" name="Isosceles Triangle 32">
              <a:extLst>
                <a:ext uri="{FF2B5EF4-FFF2-40B4-BE49-F238E27FC236}">
                  <a16:creationId xmlns:a16="http://schemas.microsoft.com/office/drawing/2014/main" id="{FA8E9237-F9D3-FB94-D6EB-94D77AEFD506}"/>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4" name="Date Placeholder 33">
            <a:extLst>
              <a:ext uri="{FF2B5EF4-FFF2-40B4-BE49-F238E27FC236}">
                <a16:creationId xmlns:a16="http://schemas.microsoft.com/office/drawing/2014/main" id="{C1554CCE-4DF8-89E6-E0F6-3C2A1439C7FA}"/>
              </a:ext>
            </a:extLst>
          </p:cNvPr>
          <p:cNvSpPr>
            <a:spLocks noGrp="1"/>
          </p:cNvSpPr>
          <p:nvPr>
            <p:ph type="dt" sz="half" idx="10"/>
          </p:nvPr>
        </p:nvSpPr>
        <p:spPr/>
        <p:txBody>
          <a:bodyPr/>
          <a:lstStyle/>
          <a:p>
            <a:r>
              <a:rPr lang="en-US" b="1" dirty="0"/>
              <a:t>Date</a:t>
            </a:r>
            <a:endParaRPr lang="en-IN" b="1" dirty="0"/>
          </a:p>
        </p:txBody>
      </p:sp>
      <p:sp>
        <p:nvSpPr>
          <p:cNvPr id="35" name="Footer Placeholder 34">
            <a:extLst>
              <a:ext uri="{FF2B5EF4-FFF2-40B4-BE49-F238E27FC236}">
                <a16:creationId xmlns:a16="http://schemas.microsoft.com/office/drawing/2014/main" id="{8FB49AA0-2464-6225-6B6C-063F9A6ECD20}"/>
              </a:ext>
            </a:extLst>
          </p:cNvPr>
          <p:cNvSpPr>
            <a:spLocks noGrp="1"/>
          </p:cNvSpPr>
          <p:nvPr>
            <p:ph type="ftr" sz="quarter" idx="11"/>
          </p:nvPr>
        </p:nvSpPr>
        <p:spPr/>
        <p:txBody>
          <a:bodyPr/>
          <a:lstStyle/>
          <a:p>
            <a:r>
              <a:rPr lang="en-IN" b="1" dirty="0"/>
              <a:t>SOA Project Review-1</a:t>
            </a:r>
          </a:p>
        </p:txBody>
      </p:sp>
      <p:sp>
        <p:nvSpPr>
          <p:cNvPr id="36" name="Slide Number Placeholder 35">
            <a:extLst>
              <a:ext uri="{FF2B5EF4-FFF2-40B4-BE49-F238E27FC236}">
                <a16:creationId xmlns:a16="http://schemas.microsoft.com/office/drawing/2014/main" id="{28F834F9-83AA-E3F9-773A-4B7A83B345F7}"/>
              </a:ext>
            </a:extLst>
          </p:cNvPr>
          <p:cNvSpPr>
            <a:spLocks noGrp="1"/>
          </p:cNvSpPr>
          <p:nvPr>
            <p:ph type="sldNum" sz="quarter" idx="12"/>
          </p:nvPr>
        </p:nvSpPr>
        <p:spPr/>
        <p:txBody>
          <a:bodyPr/>
          <a:lstStyle/>
          <a:p>
            <a:fld id="{01AD1135-6E10-4422-AC8B-257B84239C9C}" type="slidenum">
              <a:rPr lang="en-IN" smtClean="0"/>
              <a:t>1</a:t>
            </a:fld>
            <a:endParaRPr lang="en-IN" dirty="0"/>
          </a:p>
        </p:txBody>
      </p:sp>
      <p:sp>
        <p:nvSpPr>
          <p:cNvPr id="4" name="Rectangle: Rounded Corners 3">
            <a:extLst>
              <a:ext uri="{FF2B5EF4-FFF2-40B4-BE49-F238E27FC236}">
                <a16:creationId xmlns:a16="http://schemas.microsoft.com/office/drawing/2014/main" id="{4EE5F681-D3B5-BC4B-8AA4-5688DCEEFB44}"/>
              </a:ext>
            </a:extLst>
          </p:cNvPr>
          <p:cNvSpPr/>
          <p:nvPr/>
        </p:nvSpPr>
        <p:spPr>
          <a:xfrm>
            <a:off x="638175" y="769267"/>
            <a:ext cx="10915650" cy="985640"/>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C00000"/>
              </a:solidFill>
              <a:effectLst/>
              <a:uLnTx/>
              <a:uFillTx/>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endParaRPr>
          </a:p>
          <a:p>
            <a:pPr algn="ct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4782FAE-AFAF-27B2-2591-CFAF7695BD03}"/>
              </a:ext>
            </a:extLst>
          </p:cNvPr>
          <p:cNvPicPr>
            <a:picLocks noChangeAspect="1"/>
          </p:cNvPicPr>
          <p:nvPr/>
        </p:nvPicPr>
        <p:blipFill>
          <a:blip r:embed="rId3"/>
          <a:stretch>
            <a:fillRect/>
          </a:stretch>
        </p:blipFill>
        <p:spPr>
          <a:xfrm>
            <a:off x="10249380" y="0"/>
            <a:ext cx="1942620" cy="622550"/>
          </a:xfrm>
          <a:prstGeom prst="rect">
            <a:avLst/>
          </a:prstGeom>
        </p:spPr>
      </p:pic>
      <p:sp>
        <p:nvSpPr>
          <p:cNvPr id="14" name="TextBox 13">
            <a:extLst>
              <a:ext uri="{FF2B5EF4-FFF2-40B4-BE49-F238E27FC236}">
                <a16:creationId xmlns:a16="http://schemas.microsoft.com/office/drawing/2014/main" id="{DD4CF64F-3FB6-0CE4-B778-63C5D5A1D343}"/>
              </a:ext>
            </a:extLst>
          </p:cNvPr>
          <p:cNvSpPr txBox="1"/>
          <p:nvPr/>
        </p:nvSpPr>
        <p:spPr>
          <a:xfrm>
            <a:off x="738187" y="810857"/>
            <a:ext cx="10715625" cy="523220"/>
          </a:xfrm>
          <a:prstGeom prst="rect">
            <a:avLst/>
          </a:prstGeom>
          <a:noFill/>
        </p:spPr>
        <p:txBody>
          <a:bodyPr wrap="square">
            <a:spAutoFit/>
          </a:bodyPr>
          <a:lstStyle/>
          <a:p>
            <a:pPr lvl="0" algn="ctr">
              <a:defRPr/>
            </a:pPr>
            <a:r>
              <a:rPr lang="en-IN" sz="2800" b="1" dirty="0">
                <a:solidFill>
                  <a:schemeClr val="bg1"/>
                </a:solidFill>
                <a:latin typeface="Times New Roman" panose="02020603050405020304" pitchFamily="18" charset="0"/>
                <a:cs typeface="Times New Roman" panose="02020603050405020304" pitchFamily="18" charset="0"/>
              </a:rPr>
              <a:t>Project Title</a:t>
            </a:r>
            <a:endParaRPr kumimoji="0" lang="en-US" sz="3600" b="0" i="0" u="none" strike="noStrike" kern="1200" cap="none" spc="0" normalizeH="0" baseline="0" noProof="0" dirty="0">
              <a:ln>
                <a:noFill/>
              </a:ln>
              <a:solidFill>
                <a:schemeClr val="bg1"/>
              </a:solidFill>
              <a:effectLst/>
              <a:uLnTx/>
              <a:uFillTx/>
              <a:latin typeface="Calibri" panose="020F0502020204030204"/>
              <a:ea typeface="+mn-ea"/>
              <a:cs typeface="Poppins" pitchFamily="2" charset="77"/>
            </a:endParaRPr>
          </a:p>
        </p:txBody>
      </p:sp>
      <p:sp>
        <p:nvSpPr>
          <p:cNvPr id="17" name="TextBox 16">
            <a:extLst>
              <a:ext uri="{FF2B5EF4-FFF2-40B4-BE49-F238E27FC236}">
                <a16:creationId xmlns:a16="http://schemas.microsoft.com/office/drawing/2014/main" id="{D25BC1A0-FDE4-1557-375E-6E0BD69BC77B}"/>
              </a:ext>
            </a:extLst>
          </p:cNvPr>
          <p:cNvSpPr txBox="1"/>
          <p:nvPr/>
        </p:nvSpPr>
        <p:spPr>
          <a:xfrm>
            <a:off x="738187" y="2246806"/>
            <a:ext cx="10715625" cy="584775"/>
          </a:xfrm>
          <a:prstGeom prst="rect">
            <a:avLst/>
          </a:prstGeom>
          <a:noFill/>
        </p:spPr>
        <p:txBody>
          <a:bodyPr wrap="square">
            <a:spAutoFit/>
          </a:bodyPr>
          <a:lstStyle/>
          <a:p>
            <a:pPr lvl="0" algn="ctr">
              <a:defRPr/>
            </a:pPr>
            <a:r>
              <a:rPr lang="en-IN" sz="3200" b="1" dirty="0">
                <a:latin typeface="Times New Roman" panose="02020603050405020304" pitchFamily="18" charset="0"/>
                <a:cs typeface="Times New Roman" panose="02020603050405020304" pitchFamily="18" charset="0"/>
              </a:rPr>
              <a:t>SOA Project Review-1</a:t>
            </a:r>
          </a:p>
        </p:txBody>
      </p:sp>
    </p:spTree>
    <p:extLst>
      <p:ext uri="{BB962C8B-B14F-4D97-AF65-F5344CB8AC3E}">
        <p14:creationId xmlns:p14="http://schemas.microsoft.com/office/powerpoint/2010/main" val="2247602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B6FAE64B-DFA9-4528-D74E-DAEA88C008D5}"/>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4" name="Footer Placeholder 3">
            <a:extLst>
              <a:ext uri="{FF2B5EF4-FFF2-40B4-BE49-F238E27FC236}">
                <a16:creationId xmlns:a16="http://schemas.microsoft.com/office/drawing/2014/main" id="{41222DE7-17C6-1B7E-71C0-2347B0AA2C6B}"/>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5" name="Slide Number Placeholder 4">
            <a:extLst>
              <a:ext uri="{FF2B5EF4-FFF2-40B4-BE49-F238E27FC236}">
                <a16:creationId xmlns:a16="http://schemas.microsoft.com/office/drawing/2014/main" id="{6420A00F-144B-157D-A12F-7CF90703CA18}"/>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A3A418F-4DEE-4BB1-940B-1145D135750E}"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9797C6D7-F4DC-4908-B610-D10EE43A9B41}"/>
              </a:ext>
            </a:extLst>
          </p:cNvPr>
          <p:cNvSpPr txBox="1"/>
          <p:nvPr/>
        </p:nvSpPr>
        <p:spPr>
          <a:xfrm>
            <a:off x="3020906" y="173546"/>
            <a:ext cx="5854242" cy="646331"/>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3600" b="1" i="0" u="none" strike="noStrike" kern="1200" cap="none" spc="0" normalizeH="0" baseline="0" noProof="0" dirty="0">
                <a:ln w="0"/>
                <a:solidFill>
                  <a:srgbClr val="4472C4"/>
                </a:solidFill>
                <a:effectLst/>
                <a:uLnTx/>
                <a:uFillTx/>
                <a:latin typeface="Times New Roman" panose="02020603050405020304" pitchFamily="18" charset="0"/>
                <a:ea typeface="Cambria"/>
                <a:cs typeface="Times New Roman" panose="02020603050405020304" pitchFamily="18" charset="0"/>
              </a:rPr>
              <a:t>Outline of Project Work</a:t>
            </a:r>
          </a:p>
        </p:txBody>
      </p:sp>
      <p:grpSp>
        <p:nvGrpSpPr>
          <p:cNvPr id="8" name="Group 7">
            <a:extLst>
              <a:ext uri="{FF2B5EF4-FFF2-40B4-BE49-F238E27FC236}">
                <a16:creationId xmlns:a16="http://schemas.microsoft.com/office/drawing/2014/main" id="{B25CDE63-8DDC-4AC4-7713-9D89D6D0F4B1}"/>
              </a:ext>
            </a:extLst>
          </p:cNvPr>
          <p:cNvGrpSpPr/>
          <p:nvPr/>
        </p:nvGrpSpPr>
        <p:grpSpPr>
          <a:xfrm>
            <a:off x="2001361" y="1377996"/>
            <a:ext cx="6784432" cy="4438977"/>
            <a:chOff x="1929643" y="1656655"/>
            <a:chExt cx="6784432" cy="4438977"/>
          </a:xfrm>
        </p:grpSpPr>
        <p:sp>
          <p:nvSpPr>
            <p:cNvPr id="16" name="TextBox 15">
              <a:extLst>
                <a:ext uri="{FF2B5EF4-FFF2-40B4-BE49-F238E27FC236}">
                  <a16:creationId xmlns:a16="http://schemas.microsoft.com/office/drawing/2014/main" id="{C0A4CA55-824E-91B2-D5F9-032778D4B8B3}"/>
                </a:ext>
              </a:extLst>
            </p:cNvPr>
            <p:cNvSpPr txBox="1"/>
            <p:nvPr/>
          </p:nvSpPr>
          <p:spPr>
            <a:xfrm>
              <a:off x="2675533" y="3257433"/>
              <a:ext cx="4267376" cy="960328"/>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Challenges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18" name="TextBox 17">
              <a:extLst>
                <a:ext uri="{FF2B5EF4-FFF2-40B4-BE49-F238E27FC236}">
                  <a16:creationId xmlns:a16="http://schemas.microsoft.com/office/drawing/2014/main" id="{EE7E17B2-5AF8-C463-91C3-5B87FC773369}"/>
                </a:ext>
              </a:extLst>
            </p:cNvPr>
            <p:cNvSpPr txBox="1"/>
            <p:nvPr/>
          </p:nvSpPr>
          <p:spPr>
            <a:xfrm>
              <a:off x="2922896" y="3753448"/>
              <a:ext cx="4374693" cy="873572"/>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Research Objectives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0" name="TextBox 19">
              <a:extLst>
                <a:ext uri="{FF2B5EF4-FFF2-40B4-BE49-F238E27FC236}">
                  <a16:creationId xmlns:a16="http://schemas.microsoft.com/office/drawing/2014/main" id="{6D160BA9-A291-1BA5-C03E-7218C2169C28}"/>
                </a:ext>
              </a:extLst>
            </p:cNvPr>
            <p:cNvSpPr txBox="1"/>
            <p:nvPr/>
          </p:nvSpPr>
          <p:spPr>
            <a:xfrm>
              <a:off x="3139925" y="4332926"/>
              <a:ext cx="4529560" cy="937693"/>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Conclusion &amp; Future Work</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2" name="TextBox 21">
              <a:extLst>
                <a:ext uri="{FF2B5EF4-FFF2-40B4-BE49-F238E27FC236}">
                  <a16:creationId xmlns:a16="http://schemas.microsoft.com/office/drawing/2014/main" id="{6C792DA3-F484-948A-E346-F158FE24CE3F}"/>
                </a:ext>
              </a:extLst>
            </p:cNvPr>
            <p:cNvSpPr txBox="1"/>
            <p:nvPr/>
          </p:nvSpPr>
          <p:spPr>
            <a:xfrm>
              <a:off x="3426151" y="4880317"/>
              <a:ext cx="4774676" cy="919739"/>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References</a:t>
              </a:r>
              <a:b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br>
              <a:endPar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sp>
          <p:nvSpPr>
            <p:cNvPr id="24" name="TextBox 23">
              <a:extLst>
                <a:ext uri="{FF2B5EF4-FFF2-40B4-BE49-F238E27FC236}">
                  <a16:creationId xmlns:a16="http://schemas.microsoft.com/office/drawing/2014/main" id="{957E2443-43F4-3FA3-6C83-796D6B456220}"/>
                </a:ext>
              </a:extLst>
            </p:cNvPr>
            <p:cNvSpPr txBox="1"/>
            <p:nvPr/>
          </p:nvSpPr>
          <p:spPr>
            <a:xfrm>
              <a:off x="3822549" y="5483028"/>
              <a:ext cx="4891526" cy="612604"/>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Publications Details</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pic>
          <p:nvPicPr>
            <p:cNvPr id="7" name="Graphic 6">
              <a:extLst>
                <a:ext uri="{FF2B5EF4-FFF2-40B4-BE49-F238E27FC236}">
                  <a16:creationId xmlns:a16="http://schemas.microsoft.com/office/drawing/2014/main" id="{FEE87FCF-6A51-9005-163C-5E3B5C1257B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8229530" y="5002476"/>
              <a:ext cx="455841" cy="536286"/>
            </a:xfrm>
            <a:prstGeom prst="rect">
              <a:avLst/>
            </a:prstGeom>
          </p:spPr>
        </p:pic>
        <p:sp>
          <p:nvSpPr>
            <p:cNvPr id="28" name="Content Placeholder 11">
              <a:extLst>
                <a:ext uri="{FF2B5EF4-FFF2-40B4-BE49-F238E27FC236}">
                  <a16:creationId xmlns:a16="http://schemas.microsoft.com/office/drawing/2014/main" id="{F1211E34-5F1E-9B5C-4C59-2549F412DCD1}"/>
                </a:ext>
              </a:extLst>
            </p:cNvPr>
            <p:cNvSpPr txBox="1">
              <a:spLocks/>
            </p:cNvSpPr>
            <p:nvPr/>
          </p:nvSpPr>
          <p:spPr>
            <a:xfrm>
              <a:off x="1929643" y="1656655"/>
              <a:ext cx="3548330" cy="748994"/>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Focus</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31" name="Content Placeholder 11">
              <a:extLst>
                <a:ext uri="{FF2B5EF4-FFF2-40B4-BE49-F238E27FC236}">
                  <a16:creationId xmlns:a16="http://schemas.microsoft.com/office/drawing/2014/main" id="{4D713724-2EA7-CA04-47B9-F63B3DAC496D}"/>
                </a:ext>
              </a:extLst>
            </p:cNvPr>
            <p:cNvSpPr txBox="1">
              <a:spLocks/>
            </p:cNvSpPr>
            <p:nvPr/>
          </p:nvSpPr>
          <p:spPr>
            <a:xfrm>
              <a:off x="2209801" y="2217836"/>
              <a:ext cx="3886200" cy="666229"/>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Introduction</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36" name="Graphic 35">
              <a:extLst>
                <a:ext uri="{FF2B5EF4-FFF2-40B4-BE49-F238E27FC236}">
                  <a16:creationId xmlns:a16="http://schemas.microsoft.com/office/drawing/2014/main" id="{55B3B570-3194-94D5-869B-2F3E3E133BA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683523" y="4358877"/>
              <a:ext cx="455841" cy="536286"/>
            </a:xfrm>
            <a:prstGeom prst="rect">
              <a:avLst/>
            </a:prstGeom>
          </p:spPr>
        </p:pic>
        <p:pic>
          <p:nvPicPr>
            <p:cNvPr id="37" name="Graphic 36">
              <a:extLst>
                <a:ext uri="{FF2B5EF4-FFF2-40B4-BE49-F238E27FC236}">
                  <a16:creationId xmlns:a16="http://schemas.microsoft.com/office/drawing/2014/main" id="{A01B3509-5090-7764-12FF-0CDB13E360A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229942" y="3813495"/>
              <a:ext cx="455841" cy="536286"/>
            </a:xfrm>
            <a:prstGeom prst="rect">
              <a:avLst/>
            </a:prstGeom>
          </p:spPr>
        </p:pic>
        <p:pic>
          <p:nvPicPr>
            <p:cNvPr id="38" name="Graphic 37">
              <a:extLst>
                <a:ext uri="{FF2B5EF4-FFF2-40B4-BE49-F238E27FC236}">
                  <a16:creationId xmlns:a16="http://schemas.microsoft.com/office/drawing/2014/main" id="{4A5FDD7E-5A46-92A5-C963-19E091BBF72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863353" y="3200501"/>
              <a:ext cx="455841" cy="536286"/>
            </a:xfrm>
            <a:prstGeom prst="rect">
              <a:avLst/>
            </a:prstGeom>
          </p:spPr>
        </p:pic>
        <p:pic>
          <p:nvPicPr>
            <p:cNvPr id="39" name="Graphic 38">
              <a:extLst>
                <a:ext uri="{FF2B5EF4-FFF2-40B4-BE49-F238E27FC236}">
                  <a16:creationId xmlns:a16="http://schemas.microsoft.com/office/drawing/2014/main" id="{C50C5009-E2F0-E358-4C45-CAEADDEC93B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443196" y="2766955"/>
              <a:ext cx="455841" cy="536286"/>
            </a:xfrm>
            <a:prstGeom prst="rect">
              <a:avLst/>
            </a:prstGeom>
          </p:spPr>
        </p:pic>
        <p:pic>
          <p:nvPicPr>
            <p:cNvPr id="40" name="Graphic 39">
              <a:extLst>
                <a:ext uri="{FF2B5EF4-FFF2-40B4-BE49-F238E27FC236}">
                  <a16:creationId xmlns:a16="http://schemas.microsoft.com/office/drawing/2014/main" id="{F1D91F2F-C2FB-3146-467B-21A20C8410D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040392" y="2252522"/>
              <a:ext cx="455841" cy="536286"/>
            </a:xfrm>
            <a:prstGeom prst="rect">
              <a:avLst/>
            </a:prstGeom>
          </p:spPr>
        </p:pic>
        <p:pic>
          <p:nvPicPr>
            <p:cNvPr id="41" name="Graphic 40">
              <a:extLst>
                <a:ext uri="{FF2B5EF4-FFF2-40B4-BE49-F238E27FC236}">
                  <a16:creationId xmlns:a16="http://schemas.microsoft.com/office/drawing/2014/main" id="{7B0FD951-BFA0-1228-E572-2BFE866AEE7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5626122" y="1721293"/>
              <a:ext cx="455841" cy="536286"/>
            </a:xfrm>
            <a:prstGeom prst="rect">
              <a:avLst/>
            </a:prstGeom>
          </p:spPr>
        </p:pic>
        <p:sp>
          <p:nvSpPr>
            <p:cNvPr id="14" name="TextBox 13">
              <a:extLst>
                <a:ext uri="{FF2B5EF4-FFF2-40B4-BE49-F238E27FC236}">
                  <a16:creationId xmlns:a16="http://schemas.microsoft.com/office/drawing/2014/main" id="{576F380C-3238-E430-3C22-3C23884CE532}"/>
                </a:ext>
              </a:extLst>
            </p:cNvPr>
            <p:cNvSpPr txBox="1"/>
            <p:nvPr/>
          </p:nvSpPr>
          <p:spPr>
            <a:xfrm>
              <a:off x="2490411" y="2773626"/>
              <a:ext cx="4004225" cy="506870"/>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4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Literature Survey</a:t>
              </a:r>
              <a:endParaRPr kumimoji="0" lang="en-US" sz="204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grpSp>
      <p:graphicFrame>
        <p:nvGraphicFramePr>
          <p:cNvPr id="26" name="Diagram 25">
            <a:extLst>
              <a:ext uri="{FF2B5EF4-FFF2-40B4-BE49-F238E27FC236}">
                <a16:creationId xmlns:a16="http://schemas.microsoft.com/office/drawing/2014/main" id="{C044B753-17EC-8A45-927F-C44CC40ED5BA}"/>
              </a:ext>
            </a:extLst>
          </p:cNvPr>
          <p:cNvGraphicFramePr/>
          <p:nvPr/>
        </p:nvGraphicFramePr>
        <p:xfrm>
          <a:off x="41510" y="115414"/>
          <a:ext cx="1474694" cy="94234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0" name="Picture 9">
            <a:extLst>
              <a:ext uri="{FF2B5EF4-FFF2-40B4-BE49-F238E27FC236}">
                <a16:creationId xmlns:a16="http://schemas.microsoft.com/office/drawing/2014/main" id="{0B4D1914-919F-D842-1FC2-1BBFC0E95C24}"/>
              </a:ext>
            </a:extLst>
          </p:cNvPr>
          <p:cNvPicPr>
            <a:picLocks noChangeAspect="1"/>
          </p:cNvPicPr>
          <p:nvPr/>
        </p:nvPicPr>
        <p:blipFill>
          <a:blip r:embed="rId9"/>
          <a:stretch>
            <a:fillRect/>
          </a:stretch>
        </p:blipFill>
        <p:spPr>
          <a:xfrm>
            <a:off x="10249380" y="0"/>
            <a:ext cx="1901110" cy="622550"/>
          </a:xfrm>
          <a:prstGeom prst="rect">
            <a:avLst/>
          </a:prstGeom>
        </p:spPr>
      </p:pic>
    </p:spTree>
    <p:extLst>
      <p:ext uri="{BB962C8B-B14F-4D97-AF65-F5344CB8AC3E}">
        <p14:creationId xmlns:p14="http://schemas.microsoft.com/office/powerpoint/2010/main" val="2747969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C8F81-5402-FBBE-D32A-834F3C60336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DBD4C9C-9DEB-26F4-AA75-F51C06DD64DC}"/>
              </a:ext>
            </a:extLst>
          </p:cNvPr>
          <p:cNvSpPr txBox="1"/>
          <p:nvPr/>
        </p:nvSpPr>
        <p:spPr>
          <a:xfrm>
            <a:off x="3991897" y="482232"/>
            <a:ext cx="6096000" cy="646331"/>
          </a:xfrm>
          <a:prstGeom prst="rect">
            <a:avLst/>
          </a:prstGeom>
          <a:noFill/>
        </p:spPr>
        <p:txBody>
          <a:bodyPr wrap="square">
            <a:spAutoFit/>
          </a:bodyPr>
          <a:lstStyle/>
          <a:p>
            <a:r>
              <a:rPr lang="en-US" sz="3600" b="1" dirty="0"/>
              <a:t>Problem Statement</a:t>
            </a:r>
          </a:p>
        </p:txBody>
      </p:sp>
      <p:pic>
        <p:nvPicPr>
          <p:cNvPr id="3" name="Picture 2">
            <a:extLst>
              <a:ext uri="{FF2B5EF4-FFF2-40B4-BE49-F238E27FC236}">
                <a16:creationId xmlns:a16="http://schemas.microsoft.com/office/drawing/2014/main" id="{17A614DC-364B-1BD9-B452-BC2E55FD9D04}"/>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TextBox 1">
            <a:extLst>
              <a:ext uri="{FF2B5EF4-FFF2-40B4-BE49-F238E27FC236}">
                <a16:creationId xmlns:a16="http://schemas.microsoft.com/office/drawing/2014/main" id="{0AEA15BB-819D-AAF4-A0EA-4E2A15818D85}"/>
              </a:ext>
            </a:extLst>
          </p:cNvPr>
          <p:cNvSpPr txBox="1"/>
          <p:nvPr/>
        </p:nvSpPr>
        <p:spPr>
          <a:xfrm>
            <a:off x="5129784" y="1984248"/>
            <a:ext cx="184731" cy="369332"/>
          </a:xfrm>
          <a:prstGeom prst="rect">
            <a:avLst/>
          </a:prstGeom>
          <a:noFill/>
        </p:spPr>
        <p:txBody>
          <a:bodyPr wrap="none" rtlCol="0">
            <a:spAutoFit/>
          </a:bodyPr>
          <a:lstStyle/>
          <a:p>
            <a:endParaRPr lang="en-US" dirty="0"/>
          </a:p>
        </p:txBody>
      </p:sp>
      <p:sp>
        <p:nvSpPr>
          <p:cNvPr id="7" name="TextBox 6">
            <a:extLst>
              <a:ext uri="{FF2B5EF4-FFF2-40B4-BE49-F238E27FC236}">
                <a16:creationId xmlns:a16="http://schemas.microsoft.com/office/drawing/2014/main" id="{8EA18921-4273-9216-5724-9DBCA08B6215}"/>
              </a:ext>
            </a:extLst>
          </p:cNvPr>
          <p:cNvSpPr txBox="1"/>
          <p:nvPr/>
        </p:nvSpPr>
        <p:spPr>
          <a:xfrm>
            <a:off x="1450848" y="1624275"/>
            <a:ext cx="9290304" cy="2923877"/>
          </a:xfrm>
          <a:prstGeom prst="rect">
            <a:avLst/>
          </a:prstGeom>
          <a:noFill/>
        </p:spPr>
        <p:txBody>
          <a:bodyPr wrap="square">
            <a:spAutoFit/>
          </a:bodyPr>
          <a:lstStyle/>
          <a:p>
            <a:pPr algn="just"/>
            <a:r>
              <a:rPr lang="en-US" sz="2300" dirty="0">
                <a:latin typeface="Javanese Text" panose="02000000000000000000" pitchFamily="2" charset="0"/>
              </a:rPr>
              <a:t>The AI-Powered Mutual Fund Portfolio Analysis and Investment Tracking System is designed to help users monitor and understand their mutual fund investments. The system tracks the user's investments, analyzes portfolio performance, evaluates the level of risk and diversification, and provides useful insights using historical mutual fund data and machine learning techniques. It helps users easily identify whether their portfolio is performing well and understand the risk associated with their investments.</a:t>
            </a:r>
          </a:p>
        </p:txBody>
      </p:sp>
    </p:spTree>
    <p:extLst>
      <p:ext uri="{BB962C8B-B14F-4D97-AF65-F5344CB8AC3E}">
        <p14:creationId xmlns:p14="http://schemas.microsoft.com/office/powerpoint/2010/main" val="1843937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4AF34-8CFC-8161-A3CD-DED259C92A6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F508849-A0DD-12D4-FD0D-5322CA138B2F}"/>
              </a:ext>
            </a:extLst>
          </p:cNvPr>
          <p:cNvSpPr txBox="1"/>
          <p:nvPr/>
        </p:nvSpPr>
        <p:spPr>
          <a:xfrm>
            <a:off x="3048000" y="469169"/>
            <a:ext cx="6096000" cy="646331"/>
          </a:xfrm>
          <a:prstGeom prst="rect">
            <a:avLst/>
          </a:prstGeom>
          <a:noFill/>
        </p:spPr>
        <p:txBody>
          <a:bodyPr wrap="square">
            <a:spAutoFit/>
          </a:bodyPr>
          <a:lstStyle/>
          <a:p>
            <a:pPr algn="ctr"/>
            <a:r>
              <a:rPr lang="en-US" sz="3600" b="1" dirty="0"/>
              <a:t>Objectives</a:t>
            </a:r>
          </a:p>
        </p:txBody>
      </p:sp>
      <p:pic>
        <p:nvPicPr>
          <p:cNvPr id="3" name="Picture 2">
            <a:extLst>
              <a:ext uri="{FF2B5EF4-FFF2-40B4-BE49-F238E27FC236}">
                <a16:creationId xmlns:a16="http://schemas.microsoft.com/office/drawing/2014/main" id="{5B2C6E66-DFCA-CBBA-3972-F62C5800AE03}"/>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TextBox 1">
            <a:extLst>
              <a:ext uri="{FF2B5EF4-FFF2-40B4-BE49-F238E27FC236}">
                <a16:creationId xmlns:a16="http://schemas.microsoft.com/office/drawing/2014/main" id="{A62493A4-A5FE-4451-C3DA-E6B3249A35C8}"/>
              </a:ext>
            </a:extLst>
          </p:cNvPr>
          <p:cNvSpPr txBox="1"/>
          <p:nvPr/>
        </p:nvSpPr>
        <p:spPr>
          <a:xfrm>
            <a:off x="448268" y="1709928"/>
            <a:ext cx="10954300" cy="4708981"/>
          </a:xfrm>
          <a:prstGeom prst="rect">
            <a:avLst/>
          </a:prstGeom>
          <a:noFill/>
        </p:spPr>
        <p:txBody>
          <a:bodyPr wrap="square" rtlCol="0">
            <a:spAutoFit/>
          </a:bodyPr>
          <a:lstStyle/>
          <a:p>
            <a:pPr marL="342900" lvl="0" indent="-342900">
              <a:buFont typeface="+mj-lt"/>
              <a:buAutoNum type="arabicPeriod"/>
            </a:pPr>
            <a:r>
              <a:rPr lang="en-US" sz="2000" dirty="0">
                <a:latin typeface="Javanese Text" panose="02000000000000000000" pitchFamily="2" charset="0"/>
                <a:ea typeface="Calibri" panose="020F0502020204030204" pitchFamily="34" charset="0"/>
                <a:cs typeface="Calibri" panose="020F0502020204030204" pitchFamily="34" charset="0"/>
              </a:rPr>
              <a:t> To collect and preprocess mutual fund, NAV, market, user holding, and SIP transaction data for accurate analysis.</a:t>
            </a:r>
          </a:p>
          <a:p>
            <a:pPr marL="342900" lvl="0" indent="-342900">
              <a:buFont typeface="+mj-lt"/>
              <a:buAutoNum type="arabicPeriod"/>
            </a:pPr>
            <a:endParaRPr lang="en-US" sz="2000" dirty="0">
              <a:latin typeface="Javanese Text" panose="02000000000000000000" pitchFamily="2" charset="0"/>
              <a:ea typeface="Calibri" panose="020F0502020204030204" pitchFamily="34" charset="0"/>
              <a:cs typeface="Calibri" panose="020F0502020204030204" pitchFamily="34" charset="0"/>
            </a:endParaRPr>
          </a:p>
          <a:p>
            <a:pPr marL="342900" lvl="0" indent="-342900">
              <a:buFont typeface="+mj-lt"/>
              <a:buAutoNum type="arabicPeriod"/>
            </a:pPr>
            <a:r>
              <a:rPr lang="en-US" sz="2000" dirty="0">
                <a:latin typeface="Javanese Text" panose="02000000000000000000" pitchFamily="2" charset="0"/>
                <a:ea typeface="Calibri" panose="020F0502020204030204" pitchFamily="34" charset="0"/>
                <a:cs typeface="Calibri" panose="020F0502020204030204" pitchFamily="34" charset="0"/>
              </a:rPr>
              <a:t> To extract important financial features such as returns, volatility, risk, Sharpe ratio, expense ratio, and asset allocation.</a:t>
            </a:r>
          </a:p>
          <a:p>
            <a:pPr marL="342900" lvl="0" indent="-342900">
              <a:buFont typeface="+mj-lt"/>
              <a:buAutoNum type="arabicPeriod"/>
            </a:pPr>
            <a:endParaRPr lang="en-US" sz="2000" dirty="0">
              <a:latin typeface="Javanese Text" panose="02000000000000000000" pitchFamily="2" charset="0"/>
              <a:ea typeface="Calibri" panose="020F0502020204030204" pitchFamily="34" charset="0"/>
              <a:cs typeface="Calibri" panose="020F0502020204030204" pitchFamily="34" charset="0"/>
            </a:endParaRPr>
          </a:p>
          <a:p>
            <a:pPr marL="342900" lvl="0" indent="-342900">
              <a:buFont typeface="+mj-lt"/>
              <a:buAutoNum type="arabicPeriod"/>
            </a:pPr>
            <a:r>
              <a:rPr lang="en-US" sz="2000" dirty="0">
                <a:latin typeface="Javanese Text" panose="02000000000000000000" pitchFamily="2" charset="0"/>
                <a:ea typeface="Calibri" panose="020F0502020204030204" pitchFamily="34" charset="0"/>
                <a:cs typeface="Calibri" panose="020F0502020204030204" pitchFamily="34" charset="0"/>
              </a:rPr>
              <a:t>To track user investments including SIPs, buy/sell transactions, units held, current NAV, portfolio value, and profit/loss.</a:t>
            </a:r>
          </a:p>
          <a:p>
            <a:pPr marL="342900" lvl="0" indent="-342900">
              <a:buFont typeface="+mj-lt"/>
              <a:buAutoNum type="arabicPeriod"/>
            </a:pPr>
            <a:endParaRPr lang="en-US" sz="2000" dirty="0">
              <a:latin typeface="Javanese Text" panose="02000000000000000000" pitchFamily="2" charset="0"/>
              <a:ea typeface="Calibri" panose="020F0502020204030204" pitchFamily="34" charset="0"/>
              <a:cs typeface="Calibri" panose="020F0502020204030204" pitchFamily="34" charset="0"/>
            </a:endParaRPr>
          </a:p>
          <a:p>
            <a:pPr marL="342900" lvl="0" indent="-342900">
              <a:buFont typeface="+mj-lt"/>
              <a:buAutoNum type="arabicPeriod"/>
            </a:pPr>
            <a:r>
              <a:rPr lang="en-US" sz="2000" dirty="0">
                <a:latin typeface="Javanese Text" panose="02000000000000000000" pitchFamily="2" charset="0"/>
                <a:ea typeface="Calibri" panose="020F0502020204030204" pitchFamily="34" charset="0"/>
                <a:cs typeface="Calibri" panose="020F0502020204030204" pitchFamily="34" charset="0"/>
              </a:rPr>
              <a:t>To provide an interactive dashboard for viewing portfolio overview, returns, risk analysis, fund comparison, and historical trends.</a:t>
            </a:r>
          </a:p>
          <a:p>
            <a:pPr marL="342900" lvl="0" indent="-342900">
              <a:buFont typeface="+mj-lt"/>
              <a:buAutoNum type="arabicPeriod"/>
            </a:pPr>
            <a:endParaRPr lang="en-US" sz="2000" dirty="0">
              <a:latin typeface="Javanese Text" panose="02000000000000000000" pitchFamily="2" charset="0"/>
              <a:ea typeface="Calibri" panose="020F0502020204030204" pitchFamily="34" charset="0"/>
              <a:cs typeface="Calibri" panose="020F0502020204030204" pitchFamily="34" charset="0"/>
            </a:endParaRPr>
          </a:p>
          <a:p>
            <a:pPr marL="342900" lvl="0" indent="-342900">
              <a:buFont typeface="+mj-lt"/>
              <a:buAutoNum type="arabicPeriod"/>
            </a:pPr>
            <a:r>
              <a:rPr lang="en-US" sz="2000" dirty="0">
                <a:latin typeface="Javanese Text" panose="02000000000000000000" pitchFamily="2" charset="0"/>
                <a:ea typeface="Calibri" panose="020F0502020204030204" pitchFamily="34" charset="0"/>
                <a:cs typeface="Calibri" panose="020F0502020204030204" pitchFamily="34" charset="0"/>
              </a:rPr>
              <a:t>To analyze mutual fund performance and provide fund ranking and comparison based on historical data.</a:t>
            </a:r>
          </a:p>
          <a:p>
            <a:pPr marL="342900" indent="-342900">
              <a:buFont typeface="+mj-lt"/>
              <a:buAutoNum type="arabicPeriod"/>
            </a:pPr>
            <a:endParaRPr lang="en-US" sz="2000" dirty="0">
              <a:latin typeface="Javanese Text" panose="02000000000000000000" pitchFamily="2"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17782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ACD11AD-3AF5-B626-2B60-0567E4585BB7}"/>
              </a:ext>
            </a:extLst>
          </p:cNvPr>
          <p:cNvGraphicFramePr>
            <a:graphicFrameLocks/>
          </p:cNvGraphicFramePr>
          <p:nvPr>
            <p:extLst>
              <p:ext uri="{D42A27DB-BD31-4B8C-83A1-F6EECF244321}">
                <p14:modId xmlns:p14="http://schemas.microsoft.com/office/powerpoint/2010/main" val="3620053304"/>
              </p:ext>
            </p:extLst>
          </p:nvPr>
        </p:nvGraphicFramePr>
        <p:xfrm>
          <a:off x="274646" y="689466"/>
          <a:ext cx="11642705" cy="4639054"/>
        </p:xfrm>
        <a:graphic>
          <a:graphicData uri="http://schemas.openxmlformats.org/drawingml/2006/table">
            <a:tbl>
              <a:tblPr firstRow="1" bandRow="1">
                <a:tableStyleId>{BC89EF96-8CEA-46FF-86C4-4CE0E7609802}</a:tableStyleId>
              </a:tblPr>
              <a:tblGrid>
                <a:gridCol w="1089006">
                  <a:extLst>
                    <a:ext uri="{9D8B030D-6E8A-4147-A177-3AD203B41FA5}">
                      <a16:colId xmlns:a16="http://schemas.microsoft.com/office/drawing/2014/main" val="20001"/>
                    </a:ext>
                  </a:extLst>
                </a:gridCol>
                <a:gridCol w="2275288">
                  <a:extLst>
                    <a:ext uri="{9D8B030D-6E8A-4147-A177-3AD203B41FA5}">
                      <a16:colId xmlns:a16="http://schemas.microsoft.com/office/drawing/2014/main" val="20002"/>
                    </a:ext>
                  </a:extLst>
                </a:gridCol>
                <a:gridCol w="2476109">
                  <a:extLst>
                    <a:ext uri="{9D8B030D-6E8A-4147-A177-3AD203B41FA5}">
                      <a16:colId xmlns:a16="http://schemas.microsoft.com/office/drawing/2014/main" val="20003"/>
                    </a:ext>
                  </a:extLst>
                </a:gridCol>
                <a:gridCol w="2936588">
                  <a:extLst>
                    <a:ext uri="{9D8B030D-6E8A-4147-A177-3AD203B41FA5}">
                      <a16:colId xmlns:a16="http://schemas.microsoft.com/office/drawing/2014/main" val="20004"/>
                    </a:ext>
                  </a:extLst>
                </a:gridCol>
                <a:gridCol w="2865714">
                  <a:extLst>
                    <a:ext uri="{9D8B030D-6E8A-4147-A177-3AD203B41FA5}">
                      <a16:colId xmlns:a16="http://schemas.microsoft.com/office/drawing/2014/main" val="1396003017"/>
                    </a:ext>
                  </a:extLst>
                </a:gridCol>
              </a:tblGrid>
              <a:tr h="387917">
                <a:tc>
                  <a:txBody>
                    <a:bodyPr/>
                    <a:lstStyle/>
                    <a:p>
                      <a:pPr algn="ctr">
                        <a:buNone/>
                      </a:pPr>
                      <a:r>
                        <a:rPr lang="en-US" dirty="0">
                          <a:latin typeface="Times New Roman" pitchFamily="18" charset="0"/>
                          <a:cs typeface="Times New Roman" pitchFamily="18" charset="0"/>
                        </a:rPr>
                        <a:t>Authors</a:t>
                      </a:r>
                    </a:p>
                  </a:txBody>
                  <a:tcPr>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latin typeface="Times New Roman" pitchFamily="18" charset="0"/>
                          <a:cs typeface="Times New Roman" pitchFamily="18" charset="0"/>
                        </a:rPr>
                        <a:t>Title of the Paper</a:t>
                      </a:r>
                    </a:p>
                  </a:txBody>
                  <a:tcPr>
                    <a:solidFill>
                      <a:srgbClr val="FFFF00"/>
                    </a:solidFill>
                  </a:tcPr>
                </a:tc>
                <a:tc>
                  <a:txBody>
                    <a:bodyPr/>
                    <a:lstStyle/>
                    <a:p>
                      <a:pPr algn="ctr">
                        <a:buNone/>
                      </a:pPr>
                      <a:r>
                        <a:rPr lang="en-US" dirty="0">
                          <a:latin typeface="Times New Roman" pitchFamily="18" charset="0"/>
                          <a:cs typeface="Times New Roman" pitchFamily="18" charset="0"/>
                        </a:rPr>
                        <a:t>Methodology</a:t>
                      </a:r>
                    </a:p>
                  </a:txBody>
                  <a:tcPr>
                    <a:solidFill>
                      <a:srgbClr val="FFFF00"/>
                    </a:solidFill>
                  </a:tcPr>
                </a:tc>
                <a:tc>
                  <a:txBody>
                    <a:bodyPr/>
                    <a:lstStyle/>
                    <a:p>
                      <a:pPr algn="ctr">
                        <a:buNone/>
                      </a:pPr>
                      <a:r>
                        <a:rPr lang="en-US" dirty="0">
                          <a:latin typeface="Times New Roman" pitchFamily="18" charset="0"/>
                          <a:cs typeface="Times New Roman" pitchFamily="18" charset="0"/>
                        </a:rPr>
                        <a:t>Inferences</a:t>
                      </a:r>
                    </a:p>
                  </a:txBody>
                  <a:tcPr>
                    <a:solidFill>
                      <a:srgbClr val="FFFF00"/>
                    </a:solidFill>
                  </a:tcPr>
                </a:tc>
                <a:tc>
                  <a:txBody>
                    <a:bodyPr/>
                    <a:lstStyle/>
                    <a:p>
                      <a:pPr algn="ctr">
                        <a:buNone/>
                      </a:pPr>
                      <a:r>
                        <a:rPr lang="en-US" dirty="0">
                          <a:latin typeface="Times New Roman" pitchFamily="18" charset="0"/>
                          <a:cs typeface="Times New Roman" pitchFamily="18" charset="0"/>
                        </a:rPr>
                        <a:t>Limitation/Future work</a:t>
                      </a:r>
                    </a:p>
                  </a:txBody>
                  <a:tcPr>
                    <a:solidFill>
                      <a:srgbClr val="FFFF00"/>
                    </a:solidFill>
                  </a:tcPr>
                </a:tc>
                <a:extLst>
                  <a:ext uri="{0D108BD9-81ED-4DB2-BD59-A6C34878D82A}">
                    <a16:rowId xmlns:a16="http://schemas.microsoft.com/office/drawing/2014/main" val="10000"/>
                  </a:ext>
                </a:extLst>
              </a:tr>
              <a:tr h="1541937">
                <a:tc>
                  <a:txBody>
                    <a:bodyPr/>
                    <a:lstStyle/>
                    <a:p>
                      <a:pPr marL="0" algn="l" defTabSz="914400" rtl="0" eaLnBrk="1" latinLnBrk="0" hangingPunct="1"/>
                      <a:r>
                        <a:rPr lang="en-US" sz="1400" dirty="0"/>
                        <a:t>S. R. Das &amp; R. K. Jain</a:t>
                      </a:r>
                      <a:endParaRPr lang="en-IN" sz="1400" b="0" i="0" u="none"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r>
                        <a:rPr lang="en-US" sz="1400" dirty="0"/>
                        <a:t>Mutual Fund Performance: A Synthesis of Taxonomic and Methodological Issues</a:t>
                      </a:r>
                      <a:endParaRPr lang="en-IN" sz="1400" b="1" i="0"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400" dirty="0"/>
                        <a:t>Classified mutual funds and analyzed returns, fund flows, and performance using different evaluation methods.</a:t>
                      </a:r>
                      <a:endParaRPr lang="en-US" sz="1400" b="0" i="0"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400" dirty="0"/>
                        <a:t>Fund category, returns, investor flows, and risk-adjusted performance are important for portfolio evaluation.</a:t>
                      </a:r>
                      <a:endParaRPr lang="en-US" sz="1400" b="0" i="0"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indent="-285750" algn="l" defTabSz="914400" rtl="0" eaLnBrk="1" latinLnBrk="0" hangingPunct="1">
                        <a:buFont typeface="Arial" panose="020B0604020202020204" pitchFamily="34" charset="0"/>
                        <a:buChar char="•"/>
                      </a:pPr>
                      <a:r>
                        <a:rPr lang="en-US" sz="1400" dirty="0"/>
                        <a:t>The study covers broad methodological issues; a practical software-based portfolio system can integrate these analyses.</a:t>
                      </a:r>
                      <a:endPar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3714155954"/>
                  </a:ext>
                </a:extLst>
              </a:tr>
              <a:tr h="1354600">
                <a:tc>
                  <a:txBody>
                    <a:bodyPr/>
                    <a:lstStyle/>
                    <a:p>
                      <a:pPr marL="0" algn="l" defTabSz="914400" rtl="0" eaLnBrk="1" latinLnBrk="0" hangingPunct="1"/>
                      <a:r>
                        <a:rPr lang="en-US" sz="1400" dirty="0"/>
                        <a:t>Nima Vafai &amp; David Rakowski</a:t>
                      </a:r>
                      <a:endParaRPr lang="en-IN" sz="1400" b="0" i="0" u="none"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r>
                        <a:rPr lang="en-US" sz="1400" dirty="0"/>
                        <a:t>The Sources of Portfolio Volatility and Mutual Fund Performance</a:t>
                      </a:r>
                      <a:endParaRPr lang="en-IN" sz="1400" b="1" i="0" u="none"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400" dirty="0"/>
                        <a:t>Analyzed portfolio volatility using security-level variances and covariances.</a:t>
                      </a:r>
                      <a:endParaRPr lang="en-US" sz="1400" b="0" i="0" u="none" kern="1200"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400" dirty="0"/>
                        <a:t>Portfolio volatility depends significantly on the relationships between securities within the portfolio.</a:t>
                      </a:r>
                      <a:endParaRPr lang="en-US" sz="1400" b="0" i="0" u="none" kern="1200"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indent="-285750" algn="l" defTabSz="914400" rtl="0" eaLnBrk="1" latinLnBrk="0" hangingPunct="1">
                        <a:buFont typeface="Arial" panose="020B0604020202020204" pitchFamily="34" charset="0"/>
                        <a:buChar char="•"/>
                      </a:pPr>
                      <a:r>
                        <a:rPr lang="en-US" sz="1400" dirty="0"/>
                        <a:t>Analysis can be extended to different markets and practical investor portfolio applications.</a:t>
                      </a:r>
                      <a:endParaRPr lang="en-US" sz="1400" b="0" i="0" u="none" kern="1200" dirty="0">
                        <a:solidFill>
                          <a:schemeClr val="tx1"/>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655426370"/>
                  </a:ext>
                </a:extLst>
              </a:tr>
              <a:tr h="1354600">
                <a:tc>
                  <a:txBody>
                    <a:bodyPr/>
                    <a:lstStyle/>
                    <a:p>
                      <a:pPr marL="0" algn="l" defTabSz="914400" rtl="0" eaLnBrk="1" latinLnBrk="0" hangingPunct="1"/>
                      <a:r>
                        <a:rPr lang="en-US" sz="1400" dirty="0"/>
                        <a:t>S. R. S. Prasad et al.</a:t>
                      </a:r>
                      <a:endParaRPr lang="en-IN" sz="1400" b="1" i="0" u="none"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r>
                        <a:rPr lang="en-US" sz="1400" dirty="0"/>
                        <a:t>A Critical Analysis of Selected Mutual Funds in India</a:t>
                      </a:r>
                      <a:endParaRPr lang="en-IN" sz="1400" b="1" i="0" u="none"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400" dirty="0"/>
                        <a:t>Analyzed daily NAV data using statistical performance measures.</a:t>
                      </a:r>
                      <a:endParaRPr lang="en-US" sz="1400" b="0" u="none" kern="1200" dirty="0">
                        <a:solidFill>
                          <a:schemeClr val="dk1"/>
                        </a:solidFill>
                        <a:effectLst/>
                        <a:latin typeface="Times New Roman" panose="02020603050405020304" pitchFamily="18" charset="0"/>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400" dirty="0"/>
                        <a:t>Mutual funds can be evaluated by comparing their historical NAV and performance measures.</a:t>
                      </a:r>
                      <a:endParaRPr lang="en-US" sz="1400" b="0" i="0" u="none" kern="1200"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indent="-285750" algn="l" defTabSz="914400" rtl="0" eaLnBrk="1" latinLnBrk="0" hangingPunct="1">
                        <a:buFont typeface="Arial" panose="020B0604020202020204" pitchFamily="34" charset="0"/>
                        <a:buChar char="•"/>
                      </a:pPr>
                      <a:r>
                        <a:rPr lang="en-US" sz="1400" dirty="0"/>
                        <a:t>Study focused on selected funds; future work can include more fund categories and larger datasets. </a:t>
                      </a:r>
                      <a:endParaRPr lang="en-US" sz="1400" b="1" i="0" u="none" kern="1200" dirty="0">
                        <a:solidFill>
                          <a:schemeClr val="tx1"/>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841575018"/>
                  </a:ext>
                </a:extLst>
              </a:tr>
            </a:tbl>
          </a:graphicData>
        </a:graphic>
      </p:graphicFrame>
      <p:sp>
        <p:nvSpPr>
          <p:cNvPr id="2" name="TextBox 1">
            <a:extLst>
              <a:ext uri="{FF2B5EF4-FFF2-40B4-BE49-F238E27FC236}">
                <a16:creationId xmlns:a16="http://schemas.microsoft.com/office/drawing/2014/main" id="{C48F0022-391A-4CFC-2851-87E76B37EAC2}"/>
              </a:ext>
            </a:extLst>
          </p:cNvPr>
          <p:cNvSpPr txBox="1"/>
          <p:nvPr/>
        </p:nvSpPr>
        <p:spPr>
          <a:xfrm>
            <a:off x="4560565" y="136525"/>
            <a:ext cx="3070868" cy="523220"/>
          </a:xfrm>
          <a:prstGeom prst="rect">
            <a:avLst/>
          </a:prstGeom>
          <a:noFill/>
        </p:spPr>
        <p:txBody>
          <a:bodyPr wrap="square" rtlCol="0">
            <a:spAutoFit/>
          </a:bodyPr>
          <a:lstStyle/>
          <a:p>
            <a:pPr algn="ctr"/>
            <a:r>
              <a:rPr lang="en-IN" sz="2800" b="1" dirty="0">
                <a:solidFill>
                  <a:srgbClr val="0064C8"/>
                </a:solidFill>
                <a:latin typeface="Times New Roman" panose="02020603050405020304" pitchFamily="18" charset="0"/>
                <a:ea typeface="Cambria"/>
                <a:cs typeface="Times New Roman" panose="02020603050405020304" pitchFamily="18" charset="0"/>
              </a:rPr>
              <a:t>Literature Survey</a:t>
            </a:r>
            <a:endParaRPr lang="en-IN" sz="2800" b="1" dirty="0">
              <a:latin typeface="Times New Roman" panose="02020603050405020304" pitchFamily="18" charset="0"/>
              <a:cs typeface="Times New Roman" panose="02020603050405020304" pitchFamily="18" charset="0"/>
            </a:endParaRPr>
          </a:p>
        </p:txBody>
      </p:sp>
      <p:sp>
        <p:nvSpPr>
          <p:cNvPr id="10" name="Slide Number Placeholder 9">
            <a:extLst>
              <a:ext uri="{FF2B5EF4-FFF2-40B4-BE49-F238E27FC236}">
                <a16:creationId xmlns:a16="http://schemas.microsoft.com/office/drawing/2014/main" id="{09784944-5437-9E89-7017-F3DB9CA914FA}"/>
              </a:ext>
            </a:extLst>
          </p:cNvPr>
          <p:cNvSpPr>
            <a:spLocks noGrp="1"/>
          </p:cNvSpPr>
          <p:nvPr>
            <p:ph type="sldNum" sz="quarter" idx="12"/>
          </p:nvPr>
        </p:nvSpPr>
        <p:spPr/>
        <p:txBody>
          <a:bodyPr/>
          <a:lstStyle/>
          <a:p>
            <a:fld id="{5A3A418F-4DEE-4BB1-940B-1145D135750E}" type="slidenum">
              <a:rPr lang="en-IN" smtClean="0"/>
              <a:t>5</a:t>
            </a:fld>
            <a:endParaRPr lang="en-IN"/>
          </a:p>
        </p:txBody>
      </p:sp>
      <p:pic>
        <p:nvPicPr>
          <p:cNvPr id="6" name="Picture 5">
            <a:extLst>
              <a:ext uri="{FF2B5EF4-FFF2-40B4-BE49-F238E27FC236}">
                <a16:creationId xmlns:a16="http://schemas.microsoft.com/office/drawing/2014/main" id="{CF3EBAEA-8DC6-8F54-F0D6-38F9643BD4B7}"/>
              </a:ext>
            </a:extLst>
          </p:cNvPr>
          <p:cNvPicPr>
            <a:picLocks noChangeAspect="1"/>
          </p:cNvPicPr>
          <p:nvPr/>
        </p:nvPicPr>
        <p:blipFill>
          <a:blip r:embed="rId3"/>
          <a:stretch>
            <a:fillRect/>
          </a:stretch>
        </p:blipFill>
        <p:spPr>
          <a:xfrm>
            <a:off x="10249380" y="0"/>
            <a:ext cx="1942620" cy="622550"/>
          </a:xfrm>
          <a:prstGeom prst="rect">
            <a:avLst/>
          </a:prstGeom>
        </p:spPr>
      </p:pic>
    </p:spTree>
    <p:extLst>
      <p:ext uri="{BB962C8B-B14F-4D97-AF65-F5344CB8AC3E}">
        <p14:creationId xmlns:p14="http://schemas.microsoft.com/office/powerpoint/2010/main" val="30292770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EF2FA-32F2-6715-843F-6ACC796D053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00062CA-E93E-DFB0-5A22-1412AB9A6752}"/>
              </a:ext>
            </a:extLst>
          </p:cNvPr>
          <p:cNvSpPr txBox="1"/>
          <p:nvPr/>
        </p:nvSpPr>
        <p:spPr>
          <a:xfrm>
            <a:off x="3048000" y="600078"/>
            <a:ext cx="6096000" cy="646331"/>
          </a:xfrm>
          <a:prstGeom prst="rect">
            <a:avLst/>
          </a:prstGeom>
          <a:noFill/>
        </p:spPr>
        <p:txBody>
          <a:bodyPr wrap="square">
            <a:spAutoFit/>
          </a:bodyPr>
          <a:lstStyle/>
          <a:p>
            <a:pPr algn="ctr"/>
            <a:r>
              <a:rPr lang="en-US" sz="3600" b="1" dirty="0"/>
              <a:t>Problem Gap Identification</a:t>
            </a:r>
          </a:p>
        </p:txBody>
      </p:sp>
      <p:pic>
        <p:nvPicPr>
          <p:cNvPr id="3" name="Picture 2">
            <a:extLst>
              <a:ext uri="{FF2B5EF4-FFF2-40B4-BE49-F238E27FC236}">
                <a16:creationId xmlns:a16="http://schemas.microsoft.com/office/drawing/2014/main" id="{7777B92A-0C12-D39A-8847-98719E7B6FFF}"/>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TextBox 1">
            <a:extLst>
              <a:ext uri="{FF2B5EF4-FFF2-40B4-BE49-F238E27FC236}">
                <a16:creationId xmlns:a16="http://schemas.microsoft.com/office/drawing/2014/main" id="{E561E609-8078-302F-D7A1-BB5E1E59D0FF}"/>
              </a:ext>
            </a:extLst>
          </p:cNvPr>
          <p:cNvSpPr txBox="1"/>
          <p:nvPr/>
        </p:nvSpPr>
        <p:spPr>
          <a:xfrm>
            <a:off x="1216152" y="1874520"/>
            <a:ext cx="6992620" cy="2462213"/>
          </a:xfrm>
          <a:prstGeom prst="rect">
            <a:avLst/>
          </a:prstGeom>
          <a:noFill/>
        </p:spPr>
        <p:txBody>
          <a:bodyPr wrap="none" rtlCol="0">
            <a:spAutoFit/>
          </a:bodyPr>
          <a:lstStyle/>
          <a:p>
            <a:pPr marL="285750" lvl="0" indent="-285750">
              <a:buFont typeface="Arial" panose="020B0604020202020204" pitchFamily="34" charset="0"/>
              <a:buChar char="•"/>
            </a:pPr>
            <a:r>
              <a:rPr lang="en-US" sz="2200" dirty="0">
                <a:latin typeface="Javanese Text" panose="02000000000000000000" pitchFamily="2" charset="0"/>
              </a:rPr>
              <a:t>Limited integrated portfolio analysis </a:t>
            </a:r>
          </a:p>
          <a:p>
            <a:pPr marL="285750" lvl="0" indent="-285750">
              <a:buFont typeface="Arial" panose="020B0604020202020204" pitchFamily="34" charset="0"/>
              <a:buChar char="•"/>
            </a:pPr>
            <a:r>
              <a:rPr lang="en-US" sz="2200" dirty="0">
                <a:latin typeface="Javanese Text" panose="02000000000000000000" pitchFamily="2" charset="0"/>
              </a:rPr>
              <a:t>Difficulty identifying underperforming funds </a:t>
            </a:r>
          </a:p>
          <a:p>
            <a:pPr marL="285750" lvl="0" indent="-285750">
              <a:buFont typeface="Arial" panose="020B0604020202020204" pitchFamily="34" charset="0"/>
              <a:buChar char="•"/>
            </a:pPr>
            <a:r>
              <a:rPr lang="en-US" sz="2200" dirty="0">
                <a:latin typeface="Javanese Text" panose="02000000000000000000" pitchFamily="2" charset="0"/>
              </a:rPr>
              <a:t>Limited risk and diversification analysis </a:t>
            </a:r>
          </a:p>
          <a:p>
            <a:pPr marL="285750" lvl="0" indent="-285750">
              <a:buFont typeface="Arial" panose="020B0604020202020204" pitchFamily="34" charset="0"/>
              <a:buChar char="•"/>
            </a:pPr>
            <a:r>
              <a:rPr lang="en-US" sz="2200" dirty="0">
                <a:latin typeface="Javanese Text" panose="02000000000000000000" pitchFamily="2" charset="0"/>
              </a:rPr>
              <a:t>Lack of benchmark-based performance comparison </a:t>
            </a:r>
          </a:p>
          <a:p>
            <a:pPr marL="285750" lvl="0" indent="-285750">
              <a:buFont typeface="Arial" panose="020B0604020202020204" pitchFamily="34" charset="0"/>
              <a:buChar char="•"/>
            </a:pPr>
            <a:r>
              <a:rPr lang="en-US" sz="2200" dirty="0">
                <a:latin typeface="Javanese Text" panose="02000000000000000000" pitchFamily="2" charset="0"/>
              </a:rPr>
              <a:t>Limited modular/scalable architecture </a:t>
            </a:r>
          </a:p>
          <a:p>
            <a:pPr marL="285750" lvl="0" indent="-285750">
              <a:buFont typeface="Arial" panose="020B0604020202020204" pitchFamily="34" charset="0"/>
              <a:buChar char="•"/>
            </a:pPr>
            <a:r>
              <a:rPr lang="en-US" sz="2200" dirty="0">
                <a:latin typeface="Javanese Text" panose="02000000000000000000" pitchFamily="2" charset="0"/>
              </a:rPr>
              <a:t>Need for centralized investment tracking and analysis</a:t>
            </a:r>
          </a:p>
          <a:p>
            <a:endParaRPr lang="en-US" sz="2200" dirty="0">
              <a:latin typeface="Javanese Text" panose="02000000000000000000" pitchFamily="2" charset="0"/>
            </a:endParaRPr>
          </a:p>
        </p:txBody>
      </p:sp>
    </p:spTree>
    <p:extLst>
      <p:ext uri="{BB962C8B-B14F-4D97-AF65-F5344CB8AC3E}">
        <p14:creationId xmlns:p14="http://schemas.microsoft.com/office/powerpoint/2010/main" val="206587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C6D84-077B-7007-4B63-807557EC637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4387226-F29E-0041-5581-4EF07C7198F1}"/>
              </a:ext>
            </a:extLst>
          </p:cNvPr>
          <p:cNvSpPr txBox="1"/>
          <p:nvPr/>
        </p:nvSpPr>
        <p:spPr>
          <a:xfrm>
            <a:off x="1893060" y="567351"/>
            <a:ext cx="8405879" cy="646331"/>
          </a:xfrm>
          <a:prstGeom prst="rect">
            <a:avLst/>
          </a:prstGeom>
          <a:noFill/>
        </p:spPr>
        <p:txBody>
          <a:bodyPr wrap="square">
            <a:spAutoFit/>
          </a:bodyPr>
          <a:lstStyle/>
          <a:p>
            <a:pPr algn="ctr"/>
            <a:r>
              <a:rPr lang="en-US" sz="3600" b="1" dirty="0"/>
              <a:t>Innovation, Creativity, and Novelty</a:t>
            </a:r>
          </a:p>
        </p:txBody>
      </p:sp>
      <p:pic>
        <p:nvPicPr>
          <p:cNvPr id="3" name="Picture 2">
            <a:extLst>
              <a:ext uri="{FF2B5EF4-FFF2-40B4-BE49-F238E27FC236}">
                <a16:creationId xmlns:a16="http://schemas.microsoft.com/office/drawing/2014/main" id="{1BC5F926-1E4C-4031-B9E9-6A17F126A332}"/>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TextBox 1">
            <a:extLst>
              <a:ext uri="{FF2B5EF4-FFF2-40B4-BE49-F238E27FC236}">
                <a16:creationId xmlns:a16="http://schemas.microsoft.com/office/drawing/2014/main" id="{E88555EF-DB34-567A-483B-19B00CD920A1}"/>
              </a:ext>
            </a:extLst>
          </p:cNvPr>
          <p:cNvSpPr txBox="1"/>
          <p:nvPr/>
        </p:nvSpPr>
        <p:spPr>
          <a:xfrm>
            <a:off x="1014984" y="2221992"/>
            <a:ext cx="9784080" cy="1754326"/>
          </a:xfrm>
          <a:prstGeom prst="rect">
            <a:avLst/>
          </a:prstGeom>
          <a:noFill/>
        </p:spPr>
        <p:txBody>
          <a:bodyPr wrap="square" rtlCol="0">
            <a:spAutoFit/>
          </a:bodyPr>
          <a:lstStyle/>
          <a:p>
            <a:pPr marL="285750" indent="-285750">
              <a:buFont typeface="Arial" panose="020B0604020202020204" pitchFamily="34" charset="0"/>
              <a:buChar char="•"/>
            </a:pPr>
            <a:r>
              <a:rPr lang="en-US" b="1" dirty="0"/>
              <a:t>Microservices-based architecture</a:t>
            </a:r>
            <a:r>
              <a:rPr lang="en-US" dirty="0"/>
              <a:t> — separates the system into independent services such as User, Fund, Portfolio, Analysis, and Notification services.</a:t>
            </a:r>
          </a:p>
          <a:p>
            <a:pPr marL="285750" indent="-285750">
              <a:buFont typeface="Arial" panose="020B0604020202020204" pitchFamily="34" charset="0"/>
              <a:buChar char="•"/>
            </a:pPr>
            <a:r>
              <a:rPr lang="en-US" b="1" dirty="0"/>
              <a:t>Real-time portfolio insights</a:t>
            </a:r>
            <a:r>
              <a:rPr lang="en-US" dirty="0"/>
              <a:t> — provides updated portfolio value, profit/loss, NAV, and performance information.</a:t>
            </a:r>
          </a:p>
          <a:p>
            <a:pPr marL="285750" indent="-285750">
              <a:buFont typeface="Arial" panose="020B0604020202020204" pitchFamily="34" charset="0"/>
              <a:buChar char="•"/>
            </a:pPr>
            <a:r>
              <a:rPr lang="en-US" b="1" dirty="0"/>
              <a:t>API-based service communication</a:t>
            </a:r>
            <a:r>
              <a:rPr lang="en-US" dirty="0"/>
              <a:t> — services communicate through REST APIs, demonstrating SOA principles.</a:t>
            </a:r>
          </a:p>
        </p:txBody>
      </p:sp>
    </p:spTree>
    <p:extLst>
      <p:ext uri="{BB962C8B-B14F-4D97-AF65-F5344CB8AC3E}">
        <p14:creationId xmlns:p14="http://schemas.microsoft.com/office/powerpoint/2010/main" val="35241353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AA2CC-2C9A-D968-2F38-FFC4A7D2386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EF7CE10-08D9-83CF-7508-12575531E1E0}"/>
              </a:ext>
            </a:extLst>
          </p:cNvPr>
          <p:cNvSpPr txBox="1"/>
          <p:nvPr/>
        </p:nvSpPr>
        <p:spPr>
          <a:xfrm>
            <a:off x="2615380" y="551058"/>
            <a:ext cx="7234014" cy="707886"/>
          </a:xfrm>
          <a:prstGeom prst="rect">
            <a:avLst/>
          </a:prstGeom>
          <a:noFill/>
        </p:spPr>
        <p:txBody>
          <a:bodyPr wrap="square">
            <a:spAutoFit/>
          </a:bodyPr>
          <a:lstStyle/>
          <a:p>
            <a:pPr algn="ctr"/>
            <a:r>
              <a:rPr lang="en-US" sz="4000" b="1" dirty="0"/>
              <a:t>Feasibility and Project Plan</a:t>
            </a:r>
          </a:p>
        </p:txBody>
      </p:sp>
      <p:sp>
        <p:nvSpPr>
          <p:cNvPr id="2" name="TextBox 1">
            <a:extLst>
              <a:ext uri="{FF2B5EF4-FFF2-40B4-BE49-F238E27FC236}">
                <a16:creationId xmlns:a16="http://schemas.microsoft.com/office/drawing/2014/main" id="{3F0303AA-CEE8-2513-1736-59CB3A5EF8E4}"/>
              </a:ext>
            </a:extLst>
          </p:cNvPr>
          <p:cNvSpPr txBox="1"/>
          <p:nvPr/>
        </p:nvSpPr>
        <p:spPr>
          <a:xfrm>
            <a:off x="1261872" y="2191947"/>
            <a:ext cx="8814816" cy="3139321"/>
          </a:xfrm>
          <a:prstGeom prst="rect">
            <a:avLst/>
          </a:prstGeom>
          <a:noFill/>
        </p:spPr>
        <p:txBody>
          <a:bodyPr wrap="square" rtlCol="0">
            <a:spAutoFit/>
          </a:bodyPr>
          <a:lstStyle/>
          <a:p>
            <a:pPr marL="342900" lvl="0" indent="-342900">
              <a:buAutoNum type="arabicPeriod"/>
            </a:pPr>
            <a:r>
              <a:rPr lang="en-US" b="1" dirty="0"/>
              <a:t>Technical:</a:t>
            </a:r>
            <a:r>
              <a:rPr lang="en-US" dirty="0"/>
              <a:t> Java, Spring Boot, REST APIs, MySQL, and React are available and suitable for the project. </a:t>
            </a:r>
          </a:p>
          <a:p>
            <a:pPr marL="342900" lvl="0" indent="-342900">
              <a:buAutoNum type="arabicPeriod"/>
            </a:pPr>
            <a:endParaRPr lang="en-US" dirty="0"/>
          </a:p>
          <a:p>
            <a:pPr marL="342900" indent="-342900">
              <a:buFontTx/>
              <a:buAutoNum type="arabicPeriod"/>
            </a:pPr>
            <a:r>
              <a:rPr lang="en-US" b="1" dirty="0"/>
              <a:t>Operational:</a:t>
            </a:r>
            <a:r>
              <a:rPr lang="en-US" dirty="0"/>
              <a:t> Users can easily track investments, view portfolio performance, and analyze risk through the system.</a:t>
            </a:r>
          </a:p>
          <a:p>
            <a:pPr marL="342900" indent="-342900">
              <a:buFontTx/>
              <a:buAutoNum type="arabicPeriod"/>
            </a:pPr>
            <a:endParaRPr lang="en-US" dirty="0"/>
          </a:p>
          <a:p>
            <a:pPr marL="342900" indent="-342900">
              <a:buFontTx/>
              <a:buAutoNum type="arabicPeriod"/>
            </a:pPr>
            <a:r>
              <a:rPr lang="en-US" b="1" dirty="0"/>
              <a:t>Economic:</a:t>
            </a:r>
            <a:r>
              <a:rPr lang="en-US" dirty="0"/>
              <a:t> The project uses mostly open-source technologies and does not require specialized hardware.</a:t>
            </a:r>
          </a:p>
          <a:p>
            <a:endParaRPr lang="en-US" dirty="0">
              <a:latin typeface="Javanese Text" panose="02000000000000000000" pitchFamily="2" charset="0"/>
              <a:ea typeface="DengXian" panose="02010600030101010101" pitchFamily="2" charset="-122"/>
            </a:endParaRPr>
          </a:p>
          <a:p>
            <a:pPr lvl="0"/>
            <a:endParaRPr lang="en-US" b="1" dirty="0"/>
          </a:p>
          <a:p>
            <a:pPr marL="285750" indent="-285750">
              <a:buFont typeface="Arial" panose="020B0604020202020204" pitchFamily="34" charset="0"/>
              <a:buChar char="•"/>
            </a:pPr>
            <a:endParaRPr lang="en-US" b="1" dirty="0">
              <a:solidFill>
                <a:srgbClr val="FF0000"/>
              </a:solidFill>
            </a:endParaRPr>
          </a:p>
        </p:txBody>
      </p:sp>
      <p:pic>
        <p:nvPicPr>
          <p:cNvPr id="4" name="Picture 3">
            <a:extLst>
              <a:ext uri="{FF2B5EF4-FFF2-40B4-BE49-F238E27FC236}">
                <a16:creationId xmlns:a16="http://schemas.microsoft.com/office/drawing/2014/main" id="{F971D25F-D310-56FA-A58E-B7B79C7D857D}"/>
              </a:ext>
            </a:extLst>
          </p:cNvPr>
          <p:cNvPicPr>
            <a:picLocks noChangeAspect="1"/>
          </p:cNvPicPr>
          <p:nvPr/>
        </p:nvPicPr>
        <p:blipFill>
          <a:blip r:embed="rId2"/>
          <a:stretch>
            <a:fillRect/>
          </a:stretch>
        </p:blipFill>
        <p:spPr>
          <a:xfrm>
            <a:off x="10249380" y="0"/>
            <a:ext cx="1942620" cy="622550"/>
          </a:xfrm>
          <a:prstGeom prst="rect">
            <a:avLst/>
          </a:prstGeom>
        </p:spPr>
      </p:pic>
    </p:spTree>
    <p:extLst>
      <p:ext uri="{BB962C8B-B14F-4D97-AF65-F5344CB8AC3E}">
        <p14:creationId xmlns:p14="http://schemas.microsoft.com/office/powerpoint/2010/main" val="41188552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147</TotalTime>
  <Words>609</Words>
  <Application>Microsoft Office PowerPoint</Application>
  <PresentationFormat>Widescreen</PresentationFormat>
  <Paragraphs>93</Paragraphs>
  <Slides>8</Slides>
  <Notes>2</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8</vt:i4>
      </vt:variant>
    </vt:vector>
  </HeadingPairs>
  <TitlesOfParts>
    <vt:vector size="17" baseType="lpstr">
      <vt:lpstr>Aptos</vt:lpstr>
      <vt:lpstr>Aptos Display</vt:lpstr>
      <vt:lpstr>Arial</vt:lpstr>
      <vt:lpstr>Calibri</vt:lpstr>
      <vt:lpstr>Calibri Light</vt:lpstr>
      <vt:lpstr>Javanese Text</vt:lpstr>
      <vt:lpstr>Times New Roman</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srikanth ch</dc:creator>
  <cp:lastModifiedBy>Sreevarsha Reddy</cp:lastModifiedBy>
  <cp:revision>34</cp:revision>
  <dcterms:created xsi:type="dcterms:W3CDTF">2026-08-08T06:33:56Z</dcterms:created>
  <dcterms:modified xsi:type="dcterms:W3CDTF">2026-08-20T14:41:51Z</dcterms:modified>
</cp:coreProperties>
</file>